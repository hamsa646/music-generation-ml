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4c0d2a2-9a3c-67f7-ad66-be84ccc83771}">
          <p14:sldIdLst>
            <p14:sldId id="256"/>
            <p14:sldId id="257"/>
          </p14:sldIdLst>
        </p14:section>
        <p14:section name="Problem and data" id="{0bc6fb7d-b283-615c-fe9d-3ac5fd2f36dd}">
          <p14:sldIdLst>
            <p14:sldId id="258"/>
            <p14:sldId id="259"/>
          </p14:sldIdLst>
        </p14:section>
        <p14:section name="Method" id="{d46fd196-15f5-f041-fabc-1841f8725ffc}">
          <p14:sldIdLst>
            <p14:sldId id="260"/>
            <p14:sldId id="261"/>
            <p14:sldId id="262"/>
            <p14:sldId id="263"/>
          </p14:sldIdLst>
        </p14:section>
        <p14:section name="Results" id="{5bd9d254-1767-953c-1811-ee05240db81c}">
          <p14:sldIdLst>
            <p14:sldId id="264"/>
            <p14:sldId id="265"/>
            <p14:sldId id="266"/>
            <p14:sldId id="267"/>
          </p14:sldIdLst>
        </p14:section>
        <p14:section name="Reflection" id="{4077eb70-3b63-ca70-9cf7-f18f8c37ae08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Uniform baseline (ln 88)</c:v>
                </c:pt>
              </c:strCache>
            </c:strRef>
          </c:tx>
          <c:spPr>
            <a:solidFill>
              <a:srgbClr val="C9C3E4"/>
            </a:solidFill>
            <a:ln w="38100" cap="flat">
              <a:solidFill>
                <a:srgbClr val="C9C3E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C3E4"/>
              </a:solidFill>
              <a:ln w="9525" cap="flat">
                <a:solidFill>
                  <a:srgbClr val="C9C3E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4.477</c:v>
                </c:pt>
                <c:pt idx="1">
                  <c:v>4.477</c:v>
                </c:pt>
                <c:pt idx="2">
                  <c:v>4.477</c:v>
                </c:pt>
                <c:pt idx="3">
                  <c:v>4.477</c:v>
                </c:pt>
                <c:pt idx="4">
                  <c:v>4.477</c:v>
                </c:pt>
                <c:pt idx="5">
                  <c:v>4.477</c:v>
                </c:pt>
                <c:pt idx="6">
                  <c:v>4.477</c:v>
                </c:pt>
                <c:pt idx="7">
                  <c:v>4.477</c:v>
                </c:pt>
                <c:pt idx="8">
                  <c:v>4.477</c:v>
                </c:pt>
                <c:pt idx="9">
                  <c:v>4.477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Training loss</c:v>
                </c:pt>
              </c:strCache>
            </c:strRef>
          </c:tx>
          <c:spPr>
            <a:solidFill>
              <a:srgbClr val="6C4FE0"/>
            </a:solidFill>
            <a:ln w="38100" cap="flat">
              <a:solidFill>
                <a:srgbClr val="6C4F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C4FE0"/>
              </a:solidFill>
              <a:ln w="9525" cap="flat">
                <a:solidFill>
                  <a:srgbClr val="6C4F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3.764</c:v>
                </c:pt>
                <c:pt idx="1">
                  <c:v>3.471</c:v>
                </c:pt>
                <c:pt idx="2">
                  <c:v>3.384</c:v>
                </c:pt>
                <c:pt idx="3">
                  <c:v>3.332</c:v>
                </c:pt>
                <c:pt idx="4">
                  <c:v>3.286</c:v>
                </c:pt>
                <c:pt idx="5">
                  <c:v>3.242</c:v>
                </c:pt>
                <c:pt idx="6">
                  <c:v>3.2</c:v>
                </c:pt>
                <c:pt idx="7">
                  <c:v>3.16</c:v>
                </c:pt>
                <c:pt idx="8">
                  <c:v>3.123</c:v>
                </c:pt>
                <c:pt idx="9">
                  <c:v>3.087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F2A341"/>
            </a:solidFill>
            <a:ln w="38100" cap="flat">
              <a:solidFill>
                <a:srgbClr val="F2A3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341"/>
              </a:solidFill>
              <a:ln w="9525" cap="flat">
                <a:solidFill>
                  <a:srgbClr val="F2A3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3.557</c:v>
                </c:pt>
                <c:pt idx="1">
                  <c:v>3.403</c:v>
                </c:pt>
                <c:pt idx="2">
                  <c:v>3.357</c:v>
                </c:pt>
                <c:pt idx="3">
                  <c:v>3.354</c:v>
                </c:pt>
                <c:pt idx="4">
                  <c:v>3.343</c:v>
                </c:pt>
                <c:pt idx="5">
                  <c:v>3.347</c:v>
                </c:pt>
                <c:pt idx="6">
                  <c:v>3.379</c:v>
                </c:pt>
                <c:pt idx="7">
                  <c:v>3.392</c:v>
                </c:pt>
                <c:pt idx="8">
                  <c:v>3.378</c:v>
                </c:pt>
                <c:pt idx="9">
                  <c:v>3.411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14B74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14B74"/>
                    </a:solidFill>
                    <a:latin typeface="+mn-lt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3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6"/>
          <c:min val="3"/>
        </c:scaling>
        <c:delete val="0"/>
        <c:axPos val="l"/>
        <c:majorGridlines>
          <c:spPr>
            <a:ln w="12700" cap="flat">
              <a:solidFill>
                <a:srgbClr val="EDEAF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14B74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14B74"/>
                    </a:solidFill>
                    <a:latin typeface="+mn-lt"/>
                  </a:rPr>
                  <a:t>Cross-entropy loss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3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14B7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we taught a neural network to finish a musical phrase. The whole pipeline is four Python files, runs on a CPU laptop in minutes, and ends with a MIDI file you can play. I will show the method, the honest results — including where the model overfits — and then run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two minutes per section. The live demo sits at step 5; the generated MIDI is already on disk in case the laptop audio misbehaves.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88 classes happen to match the 88 keys of a piano — that is a coincidence of this dataset subset, not a design constraint. The vocabulary is whatever distinct pitches appear in the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MAESTRO is licensed CC BY-NC-SA 4.0 and is about 60 MB for the MIDI-only download. We ship the loader, not the data, so the repository stays small and the licence stays with the original distributor.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is independently runnable and writes its own artifact, so a failure is easy to localise during the demo. Preprocessing is the slow part — about a minute for 20 files — so we run it before the session and keep notes.pkl warm.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we did not use a piano-roll or a multi-hot chord encoding: both were considered, both multiply the output space, and neither fits a one-week budget with a single-layer model on CPU. We name it as a limitation rather than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one-hot input means the LSTM's input-to-hidden matrix is effectively a learned embedding table, just an expensive one. Replacing it with nn.Embedding is listed under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missing seed. An examiner who re-runs the code and sees 3.09 become 3.11 should hear it from us first, not discover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The curves diverging after epoch 5 is the single most informative thing in the project, and we would rather point at it than have the panel find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Perplexity is the fair way to state this: the model is genuinely better than chance and genuinely far from musical. Claiming either extreme would be dishonest.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panel asks for a demo variation, change TEMPERATURE in generate.py to 0.7 and re-run — it takes seconds and audibly tightens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the fallback. If pip fails on the examiner's machine it is the UTF-16 file, not the environment — say so immediately and show the one-line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sequence-boundary and split-overlap issues is the strongest move available. Both are real, both are subtle, and both show we read our own code critically.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these is the strongest move available. They are real, several are subtle, and naming them shows we read our own code rather than only ran it. Lead with D1 - it is the defect an examiner hits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what we would do with one more week: duration modelling and the larger corpus, in that order. Both are concrete, both are cheap, and together they address the two things the panel can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overfitting point — it is the one line that shows we understood the experiment rather than only ran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7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103120"/>
            <a:ext cx="781812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657600"/>
            <a:ext cx="7818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9BFF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i="1" dirty="0">
                <a:solidFill>
                  <a:srgbClr val="4A3AA8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3B8"/>
                </a:solidFill>
              </a:rPr>
              <a:t>UE24CS352A  ·  Machine Learning Mini-Project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9A93B8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7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i="1" dirty="0">
                <a:solidFill>
                  <a:srgbClr val="A294F0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49B"/>
                </a:solidFill>
              </a:rPr>
              <a:t>UE24CS352A  ·  Machine Learning Mini-Project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6E649B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anoroll-1"/>
          <p:cNvSpPr/>
          <p:nvPr/>
        </p:nvSpPr>
        <p:spPr>
          <a:xfrm>
            <a:off x="8732520" y="3474720"/>
            <a:ext cx="237744" cy="1005840"/>
          </a:xfrm>
          <a:prstGeom prst="roundRect">
            <a:avLst>
              <a:gd name="adj" fmla="val 153846"/>
            </a:avLst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pianoroll-2"/>
          <p:cNvSpPr/>
          <p:nvPr/>
        </p:nvSpPr>
        <p:spPr>
          <a:xfrm>
            <a:off x="9116568" y="2743200"/>
            <a:ext cx="237744" cy="1737360"/>
          </a:xfrm>
          <a:prstGeom prst="roundRect">
            <a:avLst>
              <a:gd name="adj" fmla="val 153846"/>
            </a:avLst>
          </a:prstGeom>
          <a:solidFill>
            <a:srgbClr val="A294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pianoroll-3"/>
          <p:cNvSpPr/>
          <p:nvPr/>
        </p:nvSpPr>
        <p:spPr>
          <a:xfrm>
            <a:off x="9500616" y="3840480"/>
            <a:ext cx="237744" cy="640080"/>
          </a:xfrm>
          <a:prstGeom prst="roundRect">
            <a:avLst>
              <a:gd name="adj" fmla="val 153846"/>
            </a:avLst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pianoroll-4"/>
          <p:cNvSpPr/>
          <p:nvPr/>
        </p:nvSpPr>
        <p:spPr>
          <a:xfrm>
            <a:off x="9884664" y="2103120"/>
            <a:ext cx="237744" cy="2377440"/>
          </a:xfrm>
          <a:prstGeom prst="roundRect">
            <a:avLst>
              <a:gd name="adj" fmla="val 153846"/>
            </a:avLst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pianoroll-5"/>
          <p:cNvSpPr/>
          <p:nvPr/>
        </p:nvSpPr>
        <p:spPr>
          <a:xfrm>
            <a:off x="10268712" y="3200400"/>
            <a:ext cx="237744" cy="1280160"/>
          </a:xfrm>
          <a:prstGeom prst="roundRect">
            <a:avLst>
              <a:gd name="adj" fmla="val 153846"/>
            </a:avLst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pianoroll-6"/>
          <p:cNvSpPr/>
          <p:nvPr/>
        </p:nvSpPr>
        <p:spPr>
          <a:xfrm>
            <a:off x="10652760" y="2560320"/>
            <a:ext cx="237744" cy="1920240"/>
          </a:xfrm>
          <a:prstGeom prst="roundRect">
            <a:avLst>
              <a:gd name="adj" fmla="val 153846"/>
            </a:avLst>
          </a:prstGeom>
          <a:solidFill>
            <a:srgbClr val="A294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pianoroll-7"/>
          <p:cNvSpPr/>
          <p:nvPr/>
        </p:nvSpPr>
        <p:spPr>
          <a:xfrm>
            <a:off x="11036808" y="3657600"/>
            <a:ext cx="237744" cy="822960"/>
          </a:xfrm>
          <a:prstGeom prst="roundRect">
            <a:avLst>
              <a:gd name="adj" fmla="val 153846"/>
            </a:avLst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pianoroll-8"/>
          <p:cNvSpPr/>
          <p:nvPr/>
        </p:nvSpPr>
        <p:spPr>
          <a:xfrm>
            <a:off x="11420856" y="2926080"/>
            <a:ext cx="237744" cy="1554480"/>
          </a:xfrm>
          <a:prstGeom prst="roundRect">
            <a:avLst>
              <a:gd name="adj" fmla="val 153846"/>
            </a:avLst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eyebrow-9"/>
          <p:cNvSpPr txBox="1"/>
          <p:nvPr/>
        </p:nvSpPr>
        <p:spPr>
          <a:xfrm>
            <a:off x="64008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A341"/>
                </a:solidFill>
              </a:rPr>
              <a:t>MINI-PROJECT  ·  OCTOBER 2026</a:t>
            </a:r>
            <a:endParaRPr lang="en-US" sz="13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40080" y="2103120"/>
            <a:ext cx="7818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Generating Music with Machine Learning</a:t>
            </a:r>
            <a:endParaRPr lang="en-US" sz="4600" dirty="0"/>
          </a:p>
        </p:txBody>
      </p:sp>
      <p:sp>
        <p:nvSpPr>
          <p:cNvPr id="12" name="Text 1"/>
          <p:cNvSpPr/>
          <p:nvPr>
            <p:ph idx="102" type="body" hasCustomPrompt="1"/>
          </p:nvPr>
        </p:nvSpPr>
        <p:spPr>
          <a:xfrm>
            <a:off x="640080" y="3657600"/>
            <a:ext cx="7818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BFF5"/>
                </a:solidFill>
              </a:rPr>
              <a:t>A note-level LSTM trained on MAESTRO piano MIDI, predicting one note at a time.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C82BE"/>
                </a:solidFill>
              </a:rPr>
              <a:t>UE24CS352A  ·  Machine Learning  ·  github.com/hamsa646/music-generation-ml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this talk covers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Problem → data → model → results → live demo → what we would fix</a:t>
            </a:r>
            <a:endParaRPr lang="en-US" sz="1500" dirty="0"/>
          </a:p>
        </p:txBody>
      </p:sp>
      <p:sp>
        <p:nvSpPr>
          <p:cNvPr id="4" name="glyph-circle-10"/>
          <p:cNvSpPr/>
          <p:nvPr/>
        </p:nvSpPr>
        <p:spPr>
          <a:xfrm>
            <a:off x="640080" y="1828800"/>
            <a:ext cx="512064" cy="512064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glyph-text-11"/>
          <p:cNvSpPr txBox="1"/>
          <p:nvPr/>
        </p:nvSpPr>
        <p:spPr>
          <a:xfrm>
            <a:off x="64008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g-h-12"/>
          <p:cNvSpPr txBox="1"/>
          <p:nvPr/>
        </p:nvSpPr>
        <p:spPr>
          <a:xfrm>
            <a:off x="1389888" y="17922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22E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7" name="ag-s-13"/>
          <p:cNvSpPr txBox="1"/>
          <p:nvPr/>
        </p:nvSpPr>
        <p:spPr>
          <a:xfrm>
            <a:off x="4297680" y="179222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4B74"/>
                </a:solidFill>
              </a:rPr>
              <a:t>Next-note prediction as a sequence-modelling task over symbolic music.</a:t>
            </a:r>
            <a:endParaRPr lang="en-US" sz="1400" dirty="0"/>
          </a:p>
        </p:txBody>
      </p:sp>
      <p:sp>
        <p:nvSpPr>
          <p:cNvPr id="8" name="glyph-circle-14"/>
          <p:cNvSpPr/>
          <p:nvPr/>
        </p:nvSpPr>
        <p:spPr>
          <a:xfrm>
            <a:off x="640080" y="2670048"/>
            <a:ext cx="512064" cy="512064"/>
          </a:xfrm>
          <a:prstGeom prst="ellipse">
            <a:avLst/>
          </a:prstGeom>
          <a:solidFill>
            <a:srgbClr val="4A3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glyph-text-15"/>
          <p:cNvSpPr txBox="1"/>
          <p:nvPr/>
        </p:nvSpPr>
        <p:spPr>
          <a:xfrm>
            <a:off x="640080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ag-h-16"/>
          <p:cNvSpPr txBox="1"/>
          <p:nvPr/>
        </p:nvSpPr>
        <p:spPr>
          <a:xfrm>
            <a:off x="1389888" y="26334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22E"/>
                </a:solidFill>
              </a:rPr>
              <a:t>The data</a:t>
            </a:r>
            <a:endParaRPr lang="en-US" sz="1700" dirty="0"/>
          </a:p>
        </p:txBody>
      </p:sp>
      <p:sp>
        <p:nvSpPr>
          <p:cNvPr id="11" name="ag-s-17"/>
          <p:cNvSpPr txBox="1"/>
          <p:nvPr/>
        </p:nvSpPr>
        <p:spPr>
          <a:xfrm>
            <a:off x="4297680" y="263347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4B74"/>
                </a:solidFill>
              </a:rPr>
              <a:t>20 MAESTRO v3.0.0 piano performances → 82,157 notes, 88 pitch classes.</a:t>
            </a:r>
            <a:endParaRPr lang="en-US" sz="1400" dirty="0"/>
          </a:p>
        </p:txBody>
      </p:sp>
      <p:sp>
        <p:nvSpPr>
          <p:cNvPr id="12" name="glyph-circle-18"/>
          <p:cNvSpPr/>
          <p:nvPr/>
        </p:nvSpPr>
        <p:spPr>
          <a:xfrm>
            <a:off x="640080" y="3511296"/>
            <a:ext cx="512064" cy="512064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glyph-text-19"/>
          <p:cNvSpPr txBox="1"/>
          <p:nvPr/>
        </p:nvSpPr>
        <p:spPr>
          <a:xfrm>
            <a:off x="640080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ag-h-20"/>
          <p:cNvSpPr txBox="1"/>
          <p:nvPr/>
        </p:nvSpPr>
        <p:spPr>
          <a:xfrm>
            <a:off x="1389888" y="3474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22E"/>
                </a:solidFill>
              </a:rPr>
              <a:t>The model</a:t>
            </a:r>
            <a:endParaRPr lang="en-US" sz="1700" dirty="0"/>
          </a:p>
        </p:txBody>
      </p:sp>
      <p:sp>
        <p:nvSpPr>
          <p:cNvPr id="15" name="ag-s-21"/>
          <p:cNvSpPr txBox="1"/>
          <p:nvPr/>
        </p:nvSpPr>
        <p:spPr>
          <a:xfrm>
            <a:off x="4297680" y="34747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4B74"/>
                </a:solidFill>
              </a:rPr>
              <a:t>A single-layer LSTM, ~123K parameters, trained from scratch on CPU.</a:t>
            </a:r>
            <a:endParaRPr lang="en-US" sz="1400" dirty="0"/>
          </a:p>
        </p:txBody>
      </p:sp>
      <p:sp>
        <p:nvSpPr>
          <p:cNvPr id="16" name="glyph-circle-22"/>
          <p:cNvSpPr/>
          <p:nvPr/>
        </p:nvSpPr>
        <p:spPr>
          <a:xfrm>
            <a:off x="640080" y="4352544"/>
            <a:ext cx="512064" cy="512064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glyph-text-23"/>
          <p:cNvSpPr txBox="1"/>
          <p:nvPr/>
        </p:nvSpPr>
        <p:spPr>
          <a:xfrm>
            <a:off x="640080" y="4352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ag-h-24"/>
          <p:cNvSpPr txBox="1"/>
          <p:nvPr/>
        </p:nvSpPr>
        <p:spPr>
          <a:xfrm>
            <a:off x="1389888" y="43159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22E"/>
                </a:solidFill>
              </a:rPr>
              <a:t>The results</a:t>
            </a:r>
            <a:endParaRPr lang="en-US" sz="1700" dirty="0"/>
          </a:p>
        </p:txBody>
      </p:sp>
      <p:sp>
        <p:nvSpPr>
          <p:cNvPr id="19" name="ag-s-25"/>
          <p:cNvSpPr txBox="1"/>
          <p:nvPr/>
        </p:nvSpPr>
        <p:spPr>
          <a:xfrm>
            <a:off x="4297680" y="43159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4B74"/>
                </a:solidFill>
              </a:rPr>
              <a:t>Validation loss 3.41 against a 4.48 uniform baseline — and an overfitting signal.</a:t>
            </a:r>
            <a:endParaRPr lang="en-US" sz="1400" dirty="0"/>
          </a:p>
        </p:txBody>
      </p:sp>
      <p:sp>
        <p:nvSpPr>
          <p:cNvPr id="20" name="glyph-circle-26"/>
          <p:cNvSpPr/>
          <p:nvPr/>
        </p:nvSpPr>
        <p:spPr>
          <a:xfrm>
            <a:off x="640080" y="5193792"/>
            <a:ext cx="512064" cy="512064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glyph-text-27"/>
          <p:cNvSpPr txBox="1"/>
          <p:nvPr/>
        </p:nvSpPr>
        <p:spPr>
          <a:xfrm>
            <a:off x="640080" y="5193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ag-h-28"/>
          <p:cNvSpPr txBox="1"/>
          <p:nvPr/>
        </p:nvSpPr>
        <p:spPr>
          <a:xfrm>
            <a:off x="1389888" y="515721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22E"/>
                </a:solidFill>
              </a:rPr>
              <a:t>The honest part</a:t>
            </a:r>
            <a:endParaRPr lang="en-US" sz="1700" dirty="0"/>
          </a:p>
        </p:txBody>
      </p:sp>
      <p:sp>
        <p:nvSpPr>
          <p:cNvPr id="23" name="ag-s-29"/>
          <p:cNvSpPr txBox="1"/>
          <p:nvPr/>
        </p:nvSpPr>
        <p:spPr>
          <a:xfrm>
            <a:off x="4297680" y="515721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4B74"/>
                </a:solidFill>
              </a:rPr>
              <a:t>What the model cannot do yet, and the eight defects our own code review turned up.</a:t>
            </a:r>
            <a:endParaRPr lang="en-US" sz="1400" dirty="0"/>
          </a:p>
        </p:txBody>
      </p:sp>
      <p:sp>
        <p:nvSpPr>
          <p:cNvPr id="25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 statement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Learn the statistics of melody well enough to continue a phrase</a:t>
            </a:r>
            <a:endParaRPr lang="en-US" sz="1500" dirty="0"/>
          </a:p>
        </p:txBody>
      </p:sp>
      <p:sp>
        <p:nvSpPr>
          <p:cNvPr id="4" name="card-30"/>
          <p:cNvSpPr/>
          <p:nvPr/>
        </p:nvSpPr>
        <p:spPr>
          <a:xfrm>
            <a:off x="640080" y="1828800"/>
            <a:ext cx="5669280" cy="2971800"/>
          </a:xfrm>
          <a:prstGeom prst="roundRect">
            <a:avLst>
              <a:gd name="adj" fmla="val 1846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5" name="glyph-circle-31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glyph-text-32"/>
          <p:cNvSpPr txBox="1"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?</a:t>
            </a:r>
            <a:endParaRPr lang="en-US" sz="2000" dirty="0"/>
          </a:p>
        </p:txBody>
      </p:sp>
      <p:sp>
        <p:nvSpPr>
          <p:cNvPr id="7" name="p-h1-33"/>
          <p:cNvSpPr txBox="1"/>
          <p:nvPr/>
        </p:nvSpPr>
        <p:spPr>
          <a:xfrm>
            <a:off x="1645920" y="2130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22E"/>
                </a:solidFill>
              </a:rPr>
              <a:t>In words</a:t>
            </a:r>
            <a:endParaRPr lang="en-US" sz="1800" dirty="0"/>
          </a:p>
        </p:txBody>
      </p:sp>
      <p:sp>
        <p:nvSpPr>
          <p:cNvPr id="8" name="p-b1-34"/>
          <p:cNvSpPr txBox="1"/>
          <p:nvPr/>
        </p:nvSpPr>
        <p:spPr>
          <a:xfrm>
            <a:off x="960120" y="2788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14B74"/>
                </a:solidFill>
              </a:rPr>
              <a:t>Given a sequence of musical notes extracted from MIDI files, train a model to predict the next note — then feed the prediction back in, repeatedly, to compose a new sequence that is playable as music.</a:t>
            </a:r>
            <a:endParaRPr lang="en-US" sz="1450" dirty="0"/>
          </a:p>
        </p:txBody>
      </p:sp>
      <p:sp>
        <p:nvSpPr>
          <p:cNvPr id="9" name="card-35"/>
          <p:cNvSpPr/>
          <p:nvPr/>
        </p:nvSpPr>
        <p:spPr>
          <a:xfrm>
            <a:off x="6629400" y="1828800"/>
            <a:ext cx="4892040" cy="2971800"/>
          </a:xfrm>
          <a:prstGeom prst="roundRect">
            <a:avLst>
              <a:gd name="adj" fmla="val 1846"/>
            </a:avLst>
          </a:prstGeom>
          <a:solidFill>
            <a:srgbClr val="17122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10" name="glyph-circle-36"/>
          <p:cNvSpPr/>
          <p:nvPr/>
        </p:nvSpPr>
        <p:spPr>
          <a:xfrm>
            <a:off x="6949440" y="2103120"/>
            <a:ext cx="548640" cy="548640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glyph-text-37"/>
          <p:cNvSpPr txBox="1"/>
          <p:nvPr/>
        </p:nvSpPr>
        <p:spPr>
          <a:xfrm>
            <a:off x="69494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22E"/>
                </a:solidFill>
              </a:rPr>
              <a:t>f</a:t>
            </a:r>
            <a:endParaRPr lang="en-US" sz="2000" dirty="0"/>
          </a:p>
        </p:txBody>
      </p:sp>
      <p:sp>
        <p:nvSpPr>
          <p:cNvPr id="12" name="p-h2-38"/>
          <p:cNvSpPr txBox="1"/>
          <p:nvPr/>
        </p:nvSpPr>
        <p:spPr>
          <a:xfrm>
            <a:off x="763524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Formally</a:t>
            </a:r>
            <a:endParaRPr lang="en-US" sz="1800" dirty="0"/>
          </a:p>
        </p:txBody>
      </p:sp>
      <p:sp>
        <p:nvSpPr>
          <p:cNvPr id="13" name="p-eq-39"/>
          <p:cNvSpPr txBox="1"/>
          <p:nvPr/>
        </p:nvSpPr>
        <p:spPr>
          <a:xfrm>
            <a:off x="694944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P( n</a:t>
            </a:r>
            <a:pPr algn="l" indent="0" marL="0">
              <a:buNone/>
            </a:pPr>
            <a:r>
              <a:rPr lang="en-US" sz="1100" dirty="0">
                <a:solidFill>
                  <a:srgbClr val="F2A341"/>
                </a:solidFill>
              </a:rPr>
              <a:t>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 |  n</a:t>
            </a:r>
            <a:pPr algn="l" indent="0" marL="0">
              <a:buNone/>
            </a:pPr>
            <a:r>
              <a:rPr lang="en-US" sz="1100" dirty="0">
                <a:solidFill>
                  <a:srgbClr val="F2A341"/>
                </a:solidFill>
              </a:rPr>
              <a:t>t-50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, … , n</a:t>
            </a:r>
            <a:pPr algn="l" indent="0" marL="0">
              <a:buNone/>
            </a:pPr>
            <a:r>
              <a:rPr lang="en-US" sz="1100" dirty="0">
                <a:solidFill>
                  <a:srgbClr val="F2A341"/>
                </a:solidFill>
              </a:rPr>
              <a:t>t-1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)</a:t>
            </a:r>
            <a:endParaRPr lang="en-US" sz="1700" dirty="0"/>
          </a:p>
        </p:txBody>
      </p:sp>
      <p:sp>
        <p:nvSpPr>
          <p:cNvPr id="14" name="p-b2-40"/>
          <p:cNvSpPr txBox="1"/>
          <p:nvPr/>
        </p:nvSpPr>
        <p:spPr>
          <a:xfrm>
            <a:off x="6949440" y="324612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9B0E4"/>
                </a:solidFill>
              </a:rPr>
              <a:t>An 88-way classification over pitch classes, conditioned on the previous 50 notes. Trained with cross-entropy; sampled with temperature at generation time. The 50-note window is the model's entire memory — nothing earlier can influence the prediction.</a:t>
            </a:r>
            <a:endParaRPr lang="en-US" sz="1300" dirty="0"/>
          </a:p>
        </p:txBody>
      </p:sp>
      <p:sp>
        <p:nvSpPr>
          <p:cNvPr id="15" name="p-b1b-41"/>
          <p:cNvSpPr txBox="1"/>
          <p:nvPr/>
        </p:nvSpPr>
        <p:spPr>
          <a:xfrm>
            <a:off x="960120" y="3886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3AA8"/>
                </a:solidFill>
              </a:rPr>
              <a:t>Each generated note is drawn from the full 88-way distribution, so the output is sampled rather than retrieved — the model never copies a training phrase back verbatim.</a:t>
            </a:r>
            <a:endParaRPr lang="en-US" sz="1300" dirty="0"/>
          </a:p>
        </p:txBody>
      </p:sp>
      <p:sp>
        <p:nvSpPr>
          <p:cNvPr id="16" name="p-scope-42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7399"/>
                </a:solidFill>
              </a:rPr>
              <a:t>Scope note: the model predicts pitch only. Duration is fixed at an eighth note and velocity is not modelled — a deliberate simplification, revisited in the limitations.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dataset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MAESTRO v3.0.0 — aligned virtuosic piano performances, MIDI only</a:t>
            </a:r>
            <a:endParaRPr lang="en-US" sz="1500" dirty="0"/>
          </a:p>
        </p:txBody>
      </p:sp>
      <p:sp>
        <p:nvSpPr>
          <p:cNvPr id="4" name="stat-value-43"/>
          <p:cNvSpPr txBox="1"/>
          <p:nvPr/>
        </p:nvSpPr>
        <p:spPr>
          <a:xfrm>
            <a:off x="640080" y="1874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6C4FE0"/>
                </a:solidFill>
              </a:rPr>
              <a:t>20</a:t>
            </a:r>
            <a:endParaRPr lang="en-US" sz="4800" dirty="0"/>
          </a:p>
        </p:txBody>
      </p:sp>
      <p:sp>
        <p:nvSpPr>
          <p:cNvPr id="5" name="stat-label-44"/>
          <p:cNvSpPr txBox="1"/>
          <p:nvPr/>
        </p:nvSpPr>
        <p:spPr>
          <a:xfrm>
            <a:off x="640080" y="2770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22E"/>
                </a:solidFill>
              </a:rPr>
              <a:t>MIDI performances</a:t>
            </a:r>
            <a:endParaRPr lang="en-US" sz="1400" dirty="0"/>
          </a:p>
        </p:txBody>
      </p:sp>
      <p:sp>
        <p:nvSpPr>
          <p:cNvPr id="6" name="stat-note-45"/>
          <p:cNvSpPr txBox="1"/>
          <p:nvPr/>
        </p:nvSpPr>
        <p:spPr>
          <a:xfrm>
            <a:off x="640080" y="3081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90"/>
                </a:solidFill>
              </a:rPr>
              <a:t>A subset of MAESTRO, chosen to keep CPU training under ten minutes.</a:t>
            </a:r>
            <a:endParaRPr lang="en-US" sz="1100" dirty="0"/>
          </a:p>
        </p:txBody>
      </p:sp>
      <p:sp>
        <p:nvSpPr>
          <p:cNvPr id="7" name="stat-value-46"/>
          <p:cNvSpPr txBox="1"/>
          <p:nvPr/>
        </p:nvSpPr>
        <p:spPr>
          <a:xfrm>
            <a:off x="429768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A3AA8"/>
                </a:solidFill>
              </a:rPr>
              <a:t>82,157</a:t>
            </a:r>
            <a:endParaRPr lang="en-US" sz="4800" dirty="0"/>
          </a:p>
        </p:txBody>
      </p:sp>
      <p:sp>
        <p:nvSpPr>
          <p:cNvPr id="8" name="stat-label-47"/>
          <p:cNvSpPr txBox="1"/>
          <p:nvPr/>
        </p:nvSpPr>
        <p:spPr>
          <a:xfrm>
            <a:off x="4297680" y="27706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22E"/>
                </a:solidFill>
              </a:rPr>
              <a:t>Notes extracted</a:t>
            </a:r>
            <a:endParaRPr lang="en-US" sz="1400" dirty="0"/>
          </a:p>
        </p:txBody>
      </p:sp>
      <p:sp>
        <p:nvSpPr>
          <p:cNvPr id="9" name="stat-note-48"/>
          <p:cNvSpPr txBox="1"/>
          <p:nvPr/>
        </p:nvSpPr>
        <p:spPr>
          <a:xfrm>
            <a:off x="4297680" y="30815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90"/>
                </a:solidFill>
              </a:rPr>
              <a:t>Every Note taken at pitch; every Chord reduced to its first pitch.</a:t>
            </a:r>
            <a:endParaRPr lang="en-US" sz="1100" dirty="0"/>
          </a:p>
        </p:txBody>
      </p:sp>
      <p:sp>
        <p:nvSpPr>
          <p:cNvPr id="10" name="stat-value-49"/>
          <p:cNvSpPr txBox="1"/>
          <p:nvPr/>
        </p:nvSpPr>
        <p:spPr>
          <a:xfrm>
            <a:off x="8229600" y="1874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A341"/>
                </a:solidFill>
              </a:rPr>
              <a:t>88</a:t>
            </a:r>
            <a:endParaRPr lang="en-US" sz="4800" dirty="0"/>
          </a:p>
        </p:txBody>
      </p:sp>
      <p:sp>
        <p:nvSpPr>
          <p:cNvPr id="11" name="stat-label-50"/>
          <p:cNvSpPr txBox="1"/>
          <p:nvPr/>
        </p:nvSpPr>
        <p:spPr>
          <a:xfrm>
            <a:off x="822960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22E"/>
                </a:solidFill>
              </a:rPr>
              <a:t>Unique pitch classes</a:t>
            </a:r>
            <a:endParaRPr lang="en-US" sz="1400" dirty="0"/>
          </a:p>
        </p:txBody>
      </p:sp>
      <p:sp>
        <p:nvSpPr>
          <p:cNvPr id="12" name="stat-note-51"/>
          <p:cNvSpPr txBox="1"/>
          <p:nvPr/>
        </p:nvSpPr>
        <p:spPr>
          <a:xfrm>
            <a:off x="8229600" y="3081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90"/>
                </a:solidFill>
              </a:rPr>
              <a:t>The output vocabulary — one logit per distinct pitch seen in the corpus.</a:t>
            </a:r>
            <a:endParaRPr lang="en-US" sz="1100" dirty="0"/>
          </a:p>
        </p:txBody>
      </p:sp>
      <p:sp>
        <p:nvSpPr>
          <p:cNvPr id="13" name="card-52"/>
          <p:cNvSpPr/>
          <p:nvPr/>
        </p:nvSpPr>
        <p:spPr>
          <a:xfrm>
            <a:off x="640080" y="3977640"/>
            <a:ext cx="10881360" cy="1600200"/>
          </a:xfrm>
          <a:prstGeom prst="roundRect">
            <a:avLst>
              <a:gd name="adj" fmla="val 3429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d-h-53"/>
          <p:cNvSpPr txBox="1"/>
          <p:nvPr/>
        </p:nvSpPr>
        <p:spPr>
          <a:xfrm>
            <a:off x="960120" y="4160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22E"/>
                </a:solidFill>
              </a:rPr>
              <a:t>How the corpus becomes training data</a:t>
            </a:r>
            <a:endParaRPr lang="en-US" sz="1500" dirty="0"/>
          </a:p>
        </p:txBody>
      </p:sp>
      <p:sp>
        <p:nvSpPr>
          <p:cNvPr id="15" name="d-b-54"/>
          <p:cNvSpPr txBox="1"/>
          <p:nvPr/>
        </p:nvSpPr>
        <p:spPr>
          <a:xfrm>
            <a:off x="960120" y="45262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514B74"/>
                </a:solidFill>
              </a:rPr>
              <a:t>Sliding window of 50 notes, stride 1 → 82,107 training examples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514B74"/>
                </a:solidFill>
              </a:rPr>
              <a:t>Chronological 90 / 10 split → 73,896 train and 8,211 validation sequences</a:t>
            </a:r>
            <a:endParaRPr lang="en-US" sz="13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514B74"/>
                </a:solidFill>
              </a:rPr>
              <a:t>Raw MIDI is excluded from the repository; data/raw/ is populated by the user at setup</a:t>
            </a:r>
            <a:endParaRPr lang="en-US" sz="1350" dirty="0"/>
          </a:p>
        </p:txBody>
      </p:sp>
      <p:sp>
        <p:nvSpPr>
          <p:cNvPr id="17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pipeline end to end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294F0"/>
                </a:solidFill>
              </a:rPr>
              <a:t>Four scripts, three artifacts, one playable MIDI file</a:t>
            </a:r>
            <a:endParaRPr lang="en-US" sz="1500" dirty="0"/>
          </a:p>
        </p:txBody>
      </p:sp>
      <p:sp>
        <p:nvSpPr>
          <p:cNvPr id="4" name="step-card-55"/>
          <p:cNvSpPr/>
          <p:nvPr/>
        </p:nvSpPr>
        <p:spPr>
          <a:xfrm>
            <a:off x="502920" y="2148840"/>
            <a:ext cx="1691640" cy="1783080"/>
          </a:xfrm>
          <a:prstGeom prst="roundRect">
            <a:avLst>
              <a:gd name="adj" fmla="val 5405"/>
            </a:avLst>
          </a:prstGeom>
          <a:solidFill>
            <a:srgbClr val="231B45"/>
          </a:solidFill>
          <a:ln w="15875">
            <a:solidFill>
              <a:srgbClr val="6C4FE0"/>
            </a:solidFill>
            <a:prstDash val="solid"/>
          </a:ln>
        </p:spPr>
      </p:sp>
      <p:sp>
        <p:nvSpPr>
          <p:cNvPr id="5" name="glyph-circle-56"/>
          <p:cNvSpPr/>
          <p:nvPr/>
        </p:nvSpPr>
        <p:spPr>
          <a:xfrm>
            <a:off x="1101852" y="2377440"/>
            <a:ext cx="493776" cy="493776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glyph-text-57"/>
          <p:cNvSpPr txBox="1"/>
          <p:nvPr/>
        </p:nvSpPr>
        <p:spPr>
          <a:xfrm>
            <a:off x="1101852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tep-h-58"/>
          <p:cNvSpPr txBox="1"/>
          <p:nvPr/>
        </p:nvSpPr>
        <p:spPr>
          <a:xfrm>
            <a:off x="594360" y="29809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MIDI in</a:t>
            </a:r>
            <a:endParaRPr lang="en-US" sz="1500" dirty="0"/>
          </a:p>
        </p:txBody>
      </p:sp>
      <p:sp>
        <p:nvSpPr>
          <p:cNvPr id="8" name="step-s-59"/>
          <p:cNvSpPr txBox="1"/>
          <p:nvPr/>
        </p:nvSpPr>
        <p:spPr>
          <a:xfrm>
            <a:off x="594360" y="3291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EDA"/>
                </a:solidFill>
              </a:rPr>
              <a:t>data/raw/*.midi</a:t>
            </a:r>
            <a:endParaRPr lang="en-US" sz="1150" dirty="0"/>
          </a:p>
        </p:txBody>
      </p:sp>
      <p:sp>
        <p:nvSpPr>
          <p:cNvPr id="9" name="step-arrow-60"/>
          <p:cNvSpPr txBox="1"/>
          <p:nvPr/>
        </p:nvSpPr>
        <p:spPr>
          <a:xfrm>
            <a:off x="2157984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49B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step-card-61"/>
          <p:cNvSpPr/>
          <p:nvPr/>
        </p:nvSpPr>
        <p:spPr>
          <a:xfrm>
            <a:off x="2395728" y="2148840"/>
            <a:ext cx="1691640" cy="1783080"/>
          </a:xfrm>
          <a:prstGeom prst="roundRect">
            <a:avLst>
              <a:gd name="adj" fmla="val 5405"/>
            </a:avLst>
          </a:prstGeom>
          <a:solidFill>
            <a:srgbClr val="231B45"/>
          </a:solidFill>
          <a:ln w="15875">
            <a:solidFill>
              <a:srgbClr val="4A3AA8"/>
            </a:solidFill>
            <a:prstDash val="solid"/>
          </a:ln>
        </p:spPr>
      </p:sp>
      <p:sp>
        <p:nvSpPr>
          <p:cNvPr id="11" name="glyph-circle-62"/>
          <p:cNvSpPr/>
          <p:nvPr/>
        </p:nvSpPr>
        <p:spPr>
          <a:xfrm>
            <a:off x="2994660" y="2377440"/>
            <a:ext cx="493776" cy="493776"/>
          </a:xfrm>
          <a:prstGeom prst="ellipse">
            <a:avLst/>
          </a:prstGeom>
          <a:solidFill>
            <a:srgbClr val="4A3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glyph-text-63"/>
          <p:cNvSpPr txBox="1"/>
          <p:nvPr/>
        </p:nvSpPr>
        <p:spPr>
          <a:xfrm>
            <a:off x="2994660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step-h-64"/>
          <p:cNvSpPr txBox="1"/>
          <p:nvPr/>
        </p:nvSpPr>
        <p:spPr>
          <a:xfrm>
            <a:off x="2487168" y="29809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Parse</a:t>
            </a:r>
            <a:endParaRPr lang="en-US" sz="1500" dirty="0"/>
          </a:p>
        </p:txBody>
      </p:sp>
      <p:sp>
        <p:nvSpPr>
          <p:cNvPr id="14" name="step-s-65"/>
          <p:cNvSpPr txBox="1"/>
          <p:nvPr/>
        </p:nvSpPr>
        <p:spPr>
          <a:xfrm>
            <a:off x="2487168" y="3291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EDA"/>
                </a:solidFill>
              </a:rPr>
              <a:t>music21 converter</a:t>
            </a:r>
            <a:endParaRPr lang="en-US" sz="1150" dirty="0"/>
          </a:p>
        </p:txBody>
      </p:sp>
      <p:sp>
        <p:nvSpPr>
          <p:cNvPr id="15" name="step-arrow-66"/>
          <p:cNvSpPr txBox="1"/>
          <p:nvPr/>
        </p:nvSpPr>
        <p:spPr>
          <a:xfrm>
            <a:off x="4050792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49B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step-card-67"/>
          <p:cNvSpPr/>
          <p:nvPr/>
        </p:nvSpPr>
        <p:spPr>
          <a:xfrm>
            <a:off x="4288536" y="2148840"/>
            <a:ext cx="1691640" cy="1783080"/>
          </a:xfrm>
          <a:prstGeom prst="roundRect">
            <a:avLst>
              <a:gd name="adj" fmla="val 5405"/>
            </a:avLst>
          </a:prstGeom>
          <a:solidFill>
            <a:srgbClr val="231B45"/>
          </a:solidFill>
          <a:ln w="15875">
            <a:solidFill>
              <a:srgbClr val="A294F0"/>
            </a:solidFill>
            <a:prstDash val="solid"/>
          </a:ln>
        </p:spPr>
      </p:sp>
      <p:sp>
        <p:nvSpPr>
          <p:cNvPr id="17" name="glyph-circle-68"/>
          <p:cNvSpPr/>
          <p:nvPr/>
        </p:nvSpPr>
        <p:spPr>
          <a:xfrm>
            <a:off x="4887468" y="2377440"/>
            <a:ext cx="493776" cy="493776"/>
          </a:xfrm>
          <a:prstGeom prst="ellipse">
            <a:avLst/>
          </a:prstGeom>
          <a:solidFill>
            <a:srgbClr val="A294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glyph-text-69"/>
          <p:cNvSpPr txBox="1"/>
          <p:nvPr/>
        </p:nvSpPr>
        <p:spPr>
          <a:xfrm>
            <a:off x="4887468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step-h-70"/>
          <p:cNvSpPr txBox="1"/>
          <p:nvPr/>
        </p:nvSpPr>
        <p:spPr>
          <a:xfrm>
            <a:off x="4379976" y="29809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Encode</a:t>
            </a:r>
            <a:endParaRPr lang="en-US" sz="1500" dirty="0"/>
          </a:p>
        </p:txBody>
      </p:sp>
      <p:sp>
        <p:nvSpPr>
          <p:cNvPr id="20" name="step-s-71"/>
          <p:cNvSpPr txBox="1"/>
          <p:nvPr/>
        </p:nvSpPr>
        <p:spPr>
          <a:xfrm>
            <a:off x="4379976" y="3291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EDA"/>
                </a:solidFill>
              </a:rPr>
              <a:t>note → integer</a:t>
            </a:r>
            <a:endParaRPr lang="en-US" sz="1150" dirty="0"/>
          </a:p>
        </p:txBody>
      </p:sp>
      <p:sp>
        <p:nvSpPr>
          <p:cNvPr id="21" name="step-arrow-72"/>
          <p:cNvSpPr txBox="1"/>
          <p:nvPr/>
        </p:nvSpPr>
        <p:spPr>
          <a:xfrm>
            <a:off x="594360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49B"/>
                </a:solidFill>
              </a:rPr>
              <a:t>›</a:t>
            </a:r>
            <a:endParaRPr lang="en-US" sz="2000" dirty="0"/>
          </a:p>
        </p:txBody>
      </p:sp>
      <p:sp>
        <p:nvSpPr>
          <p:cNvPr id="22" name="step-card-73"/>
          <p:cNvSpPr/>
          <p:nvPr/>
        </p:nvSpPr>
        <p:spPr>
          <a:xfrm>
            <a:off x="6181344" y="2148840"/>
            <a:ext cx="1691640" cy="1783080"/>
          </a:xfrm>
          <a:prstGeom prst="roundRect">
            <a:avLst>
              <a:gd name="adj" fmla="val 5405"/>
            </a:avLst>
          </a:prstGeom>
          <a:solidFill>
            <a:srgbClr val="231B45"/>
          </a:solidFill>
          <a:ln w="15875">
            <a:solidFill>
              <a:srgbClr val="2BA89B"/>
            </a:solidFill>
            <a:prstDash val="solid"/>
          </a:ln>
        </p:spPr>
      </p:sp>
      <p:sp>
        <p:nvSpPr>
          <p:cNvPr id="23" name="glyph-circle-74"/>
          <p:cNvSpPr/>
          <p:nvPr/>
        </p:nvSpPr>
        <p:spPr>
          <a:xfrm>
            <a:off x="6780276" y="2377440"/>
            <a:ext cx="493776" cy="493776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glyph-text-75"/>
          <p:cNvSpPr txBox="1"/>
          <p:nvPr/>
        </p:nvSpPr>
        <p:spPr>
          <a:xfrm>
            <a:off x="6780276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step-h-76"/>
          <p:cNvSpPr txBox="1"/>
          <p:nvPr/>
        </p:nvSpPr>
        <p:spPr>
          <a:xfrm>
            <a:off x="6272784" y="29809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Window</a:t>
            </a:r>
            <a:endParaRPr lang="en-US" sz="1500" dirty="0"/>
          </a:p>
        </p:txBody>
      </p:sp>
      <p:sp>
        <p:nvSpPr>
          <p:cNvPr id="26" name="step-s-77"/>
          <p:cNvSpPr txBox="1"/>
          <p:nvPr/>
        </p:nvSpPr>
        <p:spPr>
          <a:xfrm>
            <a:off x="6272784" y="3291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EDA"/>
                </a:solidFill>
              </a:rPr>
              <a:t>50-note sequences</a:t>
            </a:r>
            <a:endParaRPr lang="en-US" sz="1150" dirty="0"/>
          </a:p>
        </p:txBody>
      </p:sp>
      <p:sp>
        <p:nvSpPr>
          <p:cNvPr id="27" name="step-arrow-78"/>
          <p:cNvSpPr txBox="1"/>
          <p:nvPr/>
        </p:nvSpPr>
        <p:spPr>
          <a:xfrm>
            <a:off x="7836408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49B"/>
                </a:solidFill>
              </a:rPr>
              <a:t>›</a:t>
            </a:r>
            <a:endParaRPr lang="en-US" sz="2000" dirty="0"/>
          </a:p>
        </p:txBody>
      </p:sp>
      <p:sp>
        <p:nvSpPr>
          <p:cNvPr id="28" name="step-card-79"/>
          <p:cNvSpPr/>
          <p:nvPr/>
        </p:nvSpPr>
        <p:spPr>
          <a:xfrm>
            <a:off x="8074152" y="2148840"/>
            <a:ext cx="1691640" cy="1783080"/>
          </a:xfrm>
          <a:prstGeom prst="roundRect">
            <a:avLst>
              <a:gd name="adj" fmla="val 5405"/>
            </a:avLst>
          </a:prstGeom>
          <a:solidFill>
            <a:srgbClr val="231B45"/>
          </a:solidFill>
          <a:ln w="15875">
            <a:solidFill>
              <a:srgbClr val="F2A341"/>
            </a:solidFill>
            <a:prstDash val="solid"/>
          </a:ln>
        </p:spPr>
      </p:sp>
      <p:sp>
        <p:nvSpPr>
          <p:cNvPr id="29" name="glyph-circle-80"/>
          <p:cNvSpPr/>
          <p:nvPr/>
        </p:nvSpPr>
        <p:spPr>
          <a:xfrm>
            <a:off x="8673084" y="2377440"/>
            <a:ext cx="493776" cy="493776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glyph-text-81"/>
          <p:cNvSpPr txBox="1"/>
          <p:nvPr/>
        </p:nvSpPr>
        <p:spPr>
          <a:xfrm>
            <a:off x="8673084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22E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step-h-82"/>
          <p:cNvSpPr txBox="1"/>
          <p:nvPr/>
        </p:nvSpPr>
        <p:spPr>
          <a:xfrm>
            <a:off x="8165592" y="29809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</a:t>
            </a:r>
            <a:endParaRPr lang="en-US" sz="1500" dirty="0"/>
          </a:p>
        </p:txBody>
      </p:sp>
      <p:sp>
        <p:nvSpPr>
          <p:cNvPr id="32" name="step-s-83"/>
          <p:cNvSpPr txBox="1"/>
          <p:nvPr/>
        </p:nvSpPr>
        <p:spPr>
          <a:xfrm>
            <a:off x="8165592" y="3291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EDA"/>
                </a:solidFill>
              </a:rPr>
              <a:t>LSTM + Adam</a:t>
            </a:r>
            <a:endParaRPr lang="en-US" sz="1150" dirty="0"/>
          </a:p>
        </p:txBody>
      </p:sp>
      <p:sp>
        <p:nvSpPr>
          <p:cNvPr id="33" name="step-arrow-84"/>
          <p:cNvSpPr txBox="1"/>
          <p:nvPr/>
        </p:nvSpPr>
        <p:spPr>
          <a:xfrm>
            <a:off x="9729216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49B"/>
                </a:solidFill>
              </a:rPr>
              <a:t>›</a:t>
            </a:r>
            <a:endParaRPr lang="en-US" sz="2000" dirty="0"/>
          </a:p>
        </p:txBody>
      </p:sp>
      <p:sp>
        <p:nvSpPr>
          <p:cNvPr id="34" name="step-card-85"/>
          <p:cNvSpPr/>
          <p:nvPr/>
        </p:nvSpPr>
        <p:spPr>
          <a:xfrm>
            <a:off x="9966960" y="2148840"/>
            <a:ext cx="1691640" cy="1783080"/>
          </a:xfrm>
          <a:prstGeom prst="roundRect">
            <a:avLst>
              <a:gd name="adj" fmla="val 5405"/>
            </a:avLst>
          </a:prstGeom>
          <a:solidFill>
            <a:srgbClr val="231B45"/>
          </a:solidFill>
          <a:ln w="15875">
            <a:solidFill>
              <a:srgbClr val="D9533C"/>
            </a:solidFill>
            <a:prstDash val="solid"/>
          </a:ln>
        </p:spPr>
      </p:sp>
      <p:sp>
        <p:nvSpPr>
          <p:cNvPr id="35" name="glyph-circle-86"/>
          <p:cNvSpPr/>
          <p:nvPr/>
        </p:nvSpPr>
        <p:spPr>
          <a:xfrm>
            <a:off x="10565892" y="2377440"/>
            <a:ext cx="493776" cy="493776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glyph-text-87"/>
          <p:cNvSpPr txBox="1"/>
          <p:nvPr/>
        </p:nvSpPr>
        <p:spPr>
          <a:xfrm>
            <a:off x="10565892" y="2377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7" name="step-h-88"/>
          <p:cNvSpPr txBox="1"/>
          <p:nvPr/>
        </p:nvSpPr>
        <p:spPr>
          <a:xfrm>
            <a:off x="10058400" y="29809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Sample</a:t>
            </a:r>
            <a:endParaRPr lang="en-US" sz="1500" dirty="0"/>
          </a:p>
        </p:txBody>
      </p:sp>
      <p:sp>
        <p:nvSpPr>
          <p:cNvPr id="38" name="step-s-89"/>
          <p:cNvSpPr txBox="1"/>
          <p:nvPr/>
        </p:nvSpPr>
        <p:spPr>
          <a:xfrm>
            <a:off x="10058400" y="32918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9EDA"/>
                </a:solidFill>
              </a:rPr>
              <a:t>200 notes out</a:t>
            </a:r>
            <a:endParaRPr lang="en-US" sz="1150" dirty="0"/>
          </a:p>
        </p:txBody>
      </p:sp>
      <p:sp>
        <p:nvSpPr>
          <p:cNvPr id="39" name="file-dot-90"/>
          <p:cNvSpPr/>
          <p:nvPr/>
        </p:nvSpPr>
        <p:spPr>
          <a:xfrm>
            <a:off x="658368" y="4343400"/>
            <a:ext cx="146304" cy="146304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file-n-91"/>
          <p:cNvSpPr txBox="1"/>
          <p:nvPr/>
        </p:nvSpPr>
        <p:spPr>
          <a:xfrm>
            <a:off x="987552" y="42519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src/preprocess.py</a:t>
            </a:r>
            <a:endParaRPr lang="en-US" sz="1300" dirty="0"/>
          </a:p>
        </p:txBody>
      </p:sp>
      <p:sp>
        <p:nvSpPr>
          <p:cNvPr id="41" name="file-d-92"/>
          <p:cNvSpPr txBox="1"/>
          <p:nvPr/>
        </p:nvSpPr>
        <p:spPr>
          <a:xfrm>
            <a:off x="3383280" y="42519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9EDA"/>
                </a:solidFill>
              </a:rPr>
              <a:t>Reads MIDI, builds the vocabulary, writes data/processed/notes.pkl</a:t>
            </a:r>
            <a:endParaRPr lang="en-US" sz="1300" dirty="0"/>
          </a:p>
        </p:txBody>
      </p:sp>
      <p:sp>
        <p:nvSpPr>
          <p:cNvPr id="42" name="file-dot-93"/>
          <p:cNvSpPr/>
          <p:nvPr/>
        </p:nvSpPr>
        <p:spPr>
          <a:xfrm>
            <a:off x="658368" y="4745736"/>
            <a:ext cx="146304" cy="146304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file-n-94"/>
          <p:cNvSpPr txBox="1"/>
          <p:nvPr/>
        </p:nvSpPr>
        <p:spPr>
          <a:xfrm>
            <a:off x="987552" y="46542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src/train.py</a:t>
            </a:r>
            <a:endParaRPr lang="en-US" sz="1300" dirty="0"/>
          </a:p>
        </p:txBody>
      </p:sp>
      <p:sp>
        <p:nvSpPr>
          <p:cNvPr id="44" name="file-d-95"/>
          <p:cNvSpPr txBox="1"/>
          <p:nvPr/>
        </p:nvSpPr>
        <p:spPr>
          <a:xfrm>
            <a:off x="3383280" y="4654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9EDA"/>
                </a:solidFill>
              </a:rPr>
              <a:t>Builds sequences, trains the LSTM, writes models/music_lstm.pth + the loss plot</a:t>
            </a:r>
            <a:endParaRPr lang="en-US" sz="1300" dirty="0"/>
          </a:p>
        </p:txBody>
      </p:sp>
      <p:sp>
        <p:nvSpPr>
          <p:cNvPr id="45" name="file-dot-96"/>
          <p:cNvSpPr/>
          <p:nvPr/>
        </p:nvSpPr>
        <p:spPr>
          <a:xfrm>
            <a:off x="658368" y="5148072"/>
            <a:ext cx="146304" cy="146304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file-n-97"/>
          <p:cNvSpPr txBox="1"/>
          <p:nvPr/>
        </p:nvSpPr>
        <p:spPr>
          <a:xfrm>
            <a:off x="987552" y="5056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src/generate.py</a:t>
            </a:r>
            <a:endParaRPr lang="en-US" sz="1300" dirty="0"/>
          </a:p>
        </p:txBody>
      </p:sp>
      <p:sp>
        <p:nvSpPr>
          <p:cNvPr id="47" name="file-d-98"/>
          <p:cNvSpPr txBox="1"/>
          <p:nvPr/>
        </p:nvSpPr>
        <p:spPr>
          <a:xfrm>
            <a:off x="3383280" y="50566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9EDA"/>
                </a:solidFill>
              </a:rPr>
              <a:t>Loads the checkpoint, samples 200 notes, writes generated/generated_song.mid</a:t>
            </a:r>
            <a:endParaRPr lang="en-US" sz="1300" dirty="0"/>
          </a:p>
        </p:txBody>
      </p:sp>
      <p:sp>
        <p:nvSpPr>
          <p:cNvPr id="49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performance to integers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Preprocessing decisions, and what each one costs</a:t>
            </a:r>
            <a:endParaRPr lang="en-US" sz="1500" dirty="0"/>
          </a:p>
        </p:txBody>
      </p:sp>
      <p:sp>
        <p:nvSpPr>
          <p:cNvPr id="4" name="code-bg-99"/>
          <p:cNvSpPr/>
          <p:nvPr/>
        </p:nvSpPr>
        <p:spPr>
          <a:xfrm>
            <a:off x="640080" y="1828800"/>
            <a:ext cx="5486400" cy="2514600"/>
          </a:xfrm>
          <a:prstGeom prst="roundRect">
            <a:avLst>
              <a:gd name="adj" fmla="val 1818"/>
            </a:avLst>
          </a:prstGeom>
          <a:solidFill>
            <a:srgbClr val="171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code-text-100"/>
          <p:cNvSpPr txBox="1"/>
          <p:nvPr/>
        </p:nvSpPr>
        <p:spPr>
          <a:xfrm>
            <a:off x="804672" y="1956816"/>
            <a:ext cx="515721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element in score.flatten().notes: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isinstance(element, note.Note):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notes.append(str(element.pitch))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isinstance(element, chord.Chord):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notes.append(str(element.pitches[0]))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note_to_int = {n: i for i, n in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enumerate(sorted(set(all_notes)))}</a:t>
            </a:r>
            <a:endParaRPr lang="en-US" sz="1150" dirty="0"/>
          </a:p>
        </p:txBody>
      </p:sp>
      <p:sp>
        <p:nvSpPr>
          <p:cNvPr id="6" name="pp-cap-101"/>
          <p:cNvSpPr txBox="1"/>
          <p:nvPr/>
        </p:nvSpPr>
        <p:spPr>
          <a:xfrm>
            <a:off x="640080" y="4407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399"/>
                </a:solidFill>
              </a:rPr>
              <a:t>src/preprocess.py — the whole encoding, in eight lines</a:t>
            </a:r>
            <a:endParaRPr lang="en-US" sz="1100" dirty="0"/>
          </a:p>
        </p:txBody>
      </p:sp>
      <p:sp>
        <p:nvSpPr>
          <p:cNvPr id="7" name="glyph-circle-102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glyph-text-103"/>
          <p:cNvSpPr txBox="1"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•</a:t>
            </a:r>
            <a:endParaRPr lang="en-US" sz="2200" dirty="0"/>
          </a:p>
        </p:txBody>
      </p:sp>
      <p:sp>
        <p:nvSpPr>
          <p:cNvPr id="9" name="pp-h-104"/>
          <p:cNvSpPr txBox="1"/>
          <p:nvPr/>
        </p:nvSpPr>
        <p:spPr>
          <a:xfrm>
            <a:off x="7132320" y="1810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Flatten the score</a:t>
            </a:r>
            <a:endParaRPr lang="en-US" sz="1550" dirty="0"/>
          </a:p>
        </p:txBody>
      </p:sp>
      <p:sp>
        <p:nvSpPr>
          <p:cNvPr id="10" name="pp-d-105"/>
          <p:cNvSpPr txBox="1"/>
          <p:nvPr/>
        </p:nvSpPr>
        <p:spPr>
          <a:xfrm>
            <a:off x="7132320" y="212140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14B74"/>
                </a:solidFill>
              </a:rPr>
              <a:t>Voices and parts collapse into one stream — the model sees a single melodic line.</a:t>
            </a:r>
            <a:endParaRPr lang="en-US" sz="1300" dirty="0"/>
          </a:p>
        </p:txBody>
      </p:sp>
      <p:sp>
        <p:nvSpPr>
          <p:cNvPr id="11" name="glyph-circle-106"/>
          <p:cNvSpPr/>
          <p:nvPr/>
        </p:nvSpPr>
        <p:spPr>
          <a:xfrm>
            <a:off x="6537960" y="2788920"/>
            <a:ext cx="457200" cy="457200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glyph-text-107"/>
          <p:cNvSpPr txBox="1"/>
          <p:nvPr/>
        </p:nvSpPr>
        <p:spPr>
          <a:xfrm>
            <a:off x="6537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•</a:t>
            </a:r>
            <a:endParaRPr lang="en-US" sz="2200" dirty="0"/>
          </a:p>
        </p:txBody>
      </p:sp>
      <p:sp>
        <p:nvSpPr>
          <p:cNvPr id="13" name="pp-h-108"/>
          <p:cNvSpPr txBox="1"/>
          <p:nvPr/>
        </p:nvSpPr>
        <p:spPr>
          <a:xfrm>
            <a:off x="7132320" y="2770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Chords → one pitch</a:t>
            </a:r>
            <a:endParaRPr lang="en-US" sz="1550" dirty="0"/>
          </a:p>
        </p:txBody>
      </p:sp>
      <p:sp>
        <p:nvSpPr>
          <p:cNvPr id="14" name="pp-d-109"/>
          <p:cNvSpPr txBox="1"/>
          <p:nvPr/>
        </p:nvSpPr>
        <p:spPr>
          <a:xfrm>
            <a:off x="7132320" y="308152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14B74"/>
                </a:solidFill>
              </a:rPr>
              <a:t>Harmony is discarded. Simple, and the single largest loss of musical information.</a:t>
            </a:r>
            <a:endParaRPr lang="en-US" sz="1300" dirty="0"/>
          </a:p>
        </p:txBody>
      </p:sp>
      <p:sp>
        <p:nvSpPr>
          <p:cNvPr id="15" name="glyph-circle-110"/>
          <p:cNvSpPr/>
          <p:nvPr/>
        </p:nvSpPr>
        <p:spPr>
          <a:xfrm>
            <a:off x="6537960" y="3749040"/>
            <a:ext cx="457200" cy="457200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glyph-text-111"/>
          <p:cNvSpPr txBox="1"/>
          <p:nvPr/>
        </p:nvSpPr>
        <p:spPr>
          <a:xfrm>
            <a:off x="65379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•</a:t>
            </a:r>
            <a:endParaRPr lang="en-US" sz="2200" dirty="0"/>
          </a:p>
        </p:txBody>
      </p:sp>
      <p:sp>
        <p:nvSpPr>
          <p:cNvPr id="17" name="pp-h-112"/>
          <p:cNvSpPr txBox="1"/>
          <p:nvPr/>
        </p:nvSpPr>
        <p:spPr>
          <a:xfrm>
            <a:off x="7132320" y="3730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Sorted vocabulary</a:t>
            </a:r>
            <a:endParaRPr lang="en-US" sz="1550" dirty="0"/>
          </a:p>
        </p:txBody>
      </p:sp>
      <p:sp>
        <p:nvSpPr>
          <p:cNvPr id="18" name="pp-d-113"/>
          <p:cNvSpPr txBox="1"/>
          <p:nvPr/>
        </p:nvSpPr>
        <p:spPr>
          <a:xfrm>
            <a:off x="7132320" y="404164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14B74"/>
                </a:solidFill>
              </a:rPr>
              <a:t>Deterministic note → integer map, stored in the checkpoint so generation stays consistent.</a:t>
            </a:r>
            <a:endParaRPr lang="en-US" sz="1300" dirty="0"/>
          </a:p>
        </p:txBody>
      </p:sp>
      <p:sp>
        <p:nvSpPr>
          <p:cNvPr id="19" name="pp-note-114"/>
          <p:cNvSpPr txBox="1"/>
          <p:nvPr/>
        </p:nvSpPr>
        <p:spPr>
          <a:xfrm>
            <a:off x="6537960" y="47731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4A3AA8"/>
                </a:solidFill>
              </a:rPr>
              <a:t>Trade-off accepted: pitch-only encoding makes the task tractable in a week, but caps how musical the output can sound.</a:t>
            </a:r>
            <a:endParaRPr lang="en-US" sz="1250" dirty="0"/>
          </a:p>
        </p:txBody>
      </p:sp>
      <p:sp>
        <p:nvSpPr>
          <p:cNvPr id="21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architecture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One LSTM layer, one linear head — deliberately small</a:t>
            </a:r>
            <a:endParaRPr lang="en-US" sz="1500" dirty="0"/>
          </a:p>
        </p:txBody>
      </p:sp>
      <p:sp>
        <p:nvSpPr>
          <p:cNvPr id="4" name="arch-box-115"/>
          <p:cNvSpPr/>
          <p:nvPr/>
        </p:nvSpPr>
        <p:spPr>
          <a:xfrm>
            <a:off x="640080" y="1965960"/>
            <a:ext cx="1298448" cy="1325880"/>
          </a:xfrm>
          <a:prstGeom prst="roundRect">
            <a:avLst>
              <a:gd name="adj" fmla="val 7042"/>
            </a:avLst>
          </a:prstGeom>
          <a:solidFill>
            <a:srgbClr val="A294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arch-h-116"/>
          <p:cNvSpPr txBox="1"/>
          <p:nvPr/>
        </p:nvSpPr>
        <p:spPr>
          <a:xfrm>
            <a:off x="640080" y="2084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</a:t>
            </a:r>
            <a:endParaRPr lang="en-US" sz="1400" dirty="0"/>
          </a:p>
        </p:txBody>
      </p:sp>
      <p:sp>
        <p:nvSpPr>
          <p:cNvPr id="6" name="arch-s-117"/>
          <p:cNvSpPr txBox="1"/>
          <p:nvPr/>
        </p:nvSpPr>
        <p:spPr>
          <a:xfrm>
            <a:off x="694944" y="239572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5FF"/>
                </a:solidFill>
              </a:rPr>
              <a:t>50 × 88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E5FF"/>
                </a:solidFill>
              </a:rPr>
              <a:t>one-hot</a:t>
            </a:r>
            <a:endParaRPr lang="en-US" sz="1100" dirty="0"/>
          </a:p>
        </p:txBody>
      </p:sp>
      <p:sp>
        <p:nvSpPr>
          <p:cNvPr id="7" name="arch-arrow-118"/>
          <p:cNvSpPr txBox="1"/>
          <p:nvPr/>
        </p:nvSpPr>
        <p:spPr>
          <a:xfrm>
            <a:off x="1938528" y="24505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arch-box-119"/>
          <p:cNvSpPr/>
          <p:nvPr/>
        </p:nvSpPr>
        <p:spPr>
          <a:xfrm>
            <a:off x="2322576" y="1965960"/>
            <a:ext cx="1298448" cy="1325880"/>
          </a:xfrm>
          <a:prstGeom prst="roundRect">
            <a:avLst>
              <a:gd name="adj" fmla="val 7042"/>
            </a:avLst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arch-h-120"/>
          <p:cNvSpPr txBox="1"/>
          <p:nvPr/>
        </p:nvSpPr>
        <p:spPr>
          <a:xfrm>
            <a:off x="2322576" y="2084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LSTM</a:t>
            </a:r>
            <a:endParaRPr lang="en-US" sz="1400" dirty="0"/>
          </a:p>
        </p:txBody>
      </p:sp>
      <p:sp>
        <p:nvSpPr>
          <p:cNvPr id="10" name="arch-s-121"/>
          <p:cNvSpPr txBox="1"/>
          <p:nvPr/>
        </p:nvSpPr>
        <p:spPr>
          <a:xfrm>
            <a:off x="2377440" y="239572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5FF"/>
                </a:solidFill>
              </a:rPr>
              <a:t>hidden 128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E5FF"/>
                </a:solidFill>
              </a:rPr>
              <a:t>1 layer</a:t>
            </a:r>
            <a:endParaRPr lang="en-US" sz="1100" dirty="0"/>
          </a:p>
        </p:txBody>
      </p:sp>
      <p:sp>
        <p:nvSpPr>
          <p:cNvPr id="11" name="arch-arrow-122"/>
          <p:cNvSpPr txBox="1"/>
          <p:nvPr/>
        </p:nvSpPr>
        <p:spPr>
          <a:xfrm>
            <a:off x="3621024" y="24505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arch-box-123"/>
          <p:cNvSpPr/>
          <p:nvPr/>
        </p:nvSpPr>
        <p:spPr>
          <a:xfrm>
            <a:off x="4005072" y="1965960"/>
            <a:ext cx="1298448" cy="1325880"/>
          </a:xfrm>
          <a:prstGeom prst="roundRect">
            <a:avLst>
              <a:gd name="adj" fmla="val 7042"/>
            </a:avLst>
          </a:prstGeom>
          <a:solidFill>
            <a:srgbClr val="4A3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arch-h-124"/>
          <p:cNvSpPr txBox="1"/>
          <p:nvPr/>
        </p:nvSpPr>
        <p:spPr>
          <a:xfrm>
            <a:off x="4005072" y="2084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Last step</a:t>
            </a:r>
            <a:endParaRPr lang="en-US" sz="1400" dirty="0"/>
          </a:p>
        </p:txBody>
      </p:sp>
      <p:sp>
        <p:nvSpPr>
          <p:cNvPr id="14" name="arch-s-125"/>
          <p:cNvSpPr txBox="1"/>
          <p:nvPr/>
        </p:nvSpPr>
        <p:spPr>
          <a:xfrm>
            <a:off x="4059936" y="239572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5FF"/>
                </a:solidFill>
              </a:rPr>
              <a:t>h₅₀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E5FF"/>
                </a:solidFill>
              </a:rPr>
              <a:t>128-dim</a:t>
            </a:r>
            <a:endParaRPr lang="en-US" sz="1100" dirty="0"/>
          </a:p>
        </p:txBody>
      </p:sp>
      <p:sp>
        <p:nvSpPr>
          <p:cNvPr id="15" name="arch-arrow-126"/>
          <p:cNvSpPr txBox="1"/>
          <p:nvPr/>
        </p:nvSpPr>
        <p:spPr>
          <a:xfrm>
            <a:off x="5303520" y="24505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arch-box-127"/>
          <p:cNvSpPr/>
          <p:nvPr/>
        </p:nvSpPr>
        <p:spPr>
          <a:xfrm>
            <a:off x="5687568" y="1965960"/>
            <a:ext cx="1298448" cy="1325880"/>
          </a:xfrm>
          <a:prstGeom prst="roundRect">
            <a:avLst>
              <a:gd name="adj" fmla="val 7042"/>
            </a:avLst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arch-h-128"/>
          <p:cNvSpPr txBox="1"/>
          <p:nvPr/>
        </p:nvSpPr>
        <p:spPr>
          <a:xfrm>
            <a:off x="5687568" y="2084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Linear</a:t>
            </a:r>
            <a:endParaRPr lang="en-US" sz="1400" dirty="0"/>
          </a:p>
        </p:txBody>
      </p:sp>
      <p:sp>
        <p:nvSpPr>
          <p:cNvPr id="18" name="arch-s-129"/>
          <p:cNvSpPr txBox="1"/>
          <p:nvPr/>
        </p:nvSpPr>
        <p:spPr>
          <a:xfrm>
            <a:off x="5742432" y="239572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5FF"/>
                </a:solidFill>
              </a:rPr>
              <a:t>128 → 88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E5FF"/>
                </a:solidFill>
              </a:rPr>
              <a:t>logits</a:t>
            </a:r>
            <a:endParaRPr lang="en-US" sz="1100" dirty="0"/>
          </a:p>
        </p:txBody>
      </p:sp>
      <p:sp>
        <p:nvSpPr>
          <p:cNvPr id="19" name="arch-arrow-130"/>
          <p:cNvSpPr txBox="1"/>
          <p:nvPr/>
        </p:nvSpPr>
        <p:spPr>
          <a:xfrm>
            <a:off x="6986016" y="24505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3B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arch-box-131"/>
          <p:cNvSpPr/>
          <p:nvPr/>
        </p:nvSpPr>
        <p:spPr>
          <a:xfrm>
            <a:off x="7370064" y="1965960"/>
            <a:ext cx="1298448" cy="1325880"/>
          </a:xfrm>
          <a:prstGeom prst="roundRect">
            <a:avLst>
              <a:gd name="adj" fmla="val 7042"/>
            </a:avLst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arch-h-132"/>
          <p:cNvSpPr txBox="1"/>
          <p:nvPr/>
        </p:nvSpPr>
        <p:spPr>
          <a:xfrm>
            <a:off x="7370064" y="2084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2E"/>
                </a:solidFill>
              </a:rPr>
              <a:t>Softmax</a:t>
            </a:r>
            <a:endParaRPr lang="en-US" sz="1400" dirty="0"/>
          </a:p>
        </p:txBody>
      </p:sp>
      <p:sp>
        <p:nvSpPr>
          <p:cNvPr id="22" name="arch-s-133"/>
          <p:cNvSpPr txBox="1"/>
          <p:nvPr/>
        </p:nvSpPr>
        <p:spPr>
          <a:xfrm>
            <a:off x="7424928" y="239572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410"/>
                </a:solidFill>
              </a:rPr>
              <a:t>P(next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3410"/>
                </a:solidFill>
              </a:rPr>
              <a:t>note)</a:t>
            </a:r>
            <a:endParaRPr lang="en-US" sz="1100" dirty="0"/>
          </a:p>
        </p:txBody>
      </p:sp>
      <p:sp>
        <p:nvSpPr>
          <p:cNvPr id="23" name="stat-value-134"/>
          <p:cNvSpPr txBox="1"/>
          <p:nvPr/>
        </p:nvSpPr>
        <p:spPr>
          <a:xfrm>
            <a:off x="9692640" y="18745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533C"/>
                </a:solidFill>
              </a:rPr>
              <a:t>123K</a:t>
            </a:r>
            <a:endParaRPr lang="en-US" sz="4800" dirty="0"/>
          </a:p>
        </p:txBody>
      </p:sp>
      <p:sp>
        <p:nvSpPr>
          <p:cNvPr id="24" name="stat-label-135"/>
          <p:cNvSpPr txBox="1"/>
          <p:nvPr/>
        </p:nvSpPr>
        <p:spPr>
          <a:xfrm>
            <a:off x="9692640" y="2770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22E"/>
                </a:solidFill>
              </a:rPr>
              <a:t>Parameters</a:t>
            </a:r>
            <a:endParaRPr lang="en-US" sz="1400" dirty="0"/>
          </a:p>
        </p:txBody>
      </p:sp>
      <p:sp>
        <p:nvSpPr>
          <p:cNvPr id="25" name="stat-note-136"/>
          <p:cNvSpPr txBox="1"/>
          <p:nvPr/>
        </p:nvSpPr>
        <p:spPr>
          <a:xfrm>
            <a:off x="9692640" y="3081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90"/>
                </a:solidFill>
              </a:rPr>
              <a:t>Small enough to train on a laptop CPU.</a:t>
            </a:r>
            <a:endParaRPr lang="en-US" sz="1100" dirty="0"/>
          </a:p>
        </p:txBody>
      </p:sp>
      <p:graphicFrame>
        <p:nvGraphicFramePr>
          <p:cNvPr id="8" name="hp-table-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676656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Hyper-parameter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6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Sequence length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≈ 6 bars of eighth notes — enough context for a phrase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Hidden size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Capacity without overwhelming 82K training notes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LSTM layers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Baseline depth; stacking is listed as future work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Batch size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Stable gradients, fits comfortably in CPU memory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Epochs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Fixed budget — the results slide shows this is 5 too many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Optimiser / LR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Adam / 1e-3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Standard defaults; no schedule or weight decay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Loss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Cross-entropy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3560"/>
                          </a:solidFill>
                        </a:rPr>
                        <a:t>88-way classification over the pitch vocabulary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Training setup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Ten epochs, CPU only, no tricks</a:t>
            </a:r>
            <a:endParaRPr lang="en-US" sz="1500" dirty="0"/>
          </a:p>
        </p:txBody>
      </p:sp>
      <p:sp>
        <p:nvSpPr>
          <p:cNvPr id="4" name="card-138"/>
          <p:cNvSpPr/>
          <p:nvPr/>
        </p:nvSpPr>
        <p:spPr>
          <a:xfrm>
            <a:off x="640080" y="192024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5" name="glyph-circle-139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glyph-text-140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▪</a:t>
            </a:r>
            <a:endParaRPr lang="en-US" sz="1600" dirty="0"/>
          </a:p>
        </p:txBody>
      </p:sp>
      <p:sp>
        <p:nvSpPr>
          <p:cNvPr id="7" name="tr-h-141"/>
          <p:cNvSpPr txBox="1"/>
          <p:nvPr/>
        </p:nvSpPr>
        <p:spPr>
          <a:xfrm>
            <a:off x="914400" y="2697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7A7399"/>
                </a:solidFill>
              </a:rPr>
              <a:t>Split</a:t>
            </a:r>
            <a:endParaRPr lang="en-US" sz="1250" dirty="0"/>
          </a:p>
        </p:txBody>
      </p:sp>
      <p:sp>
        <p:nvSpPr>
          <p:cNvPr id="8" name="tr-big-142"/>
          <p:cNvSpPr txBox="1"/>
          <p:nvPr/>
        </p:nvSpPr>
        <p:spPr>
          <a:xfrm>
            <a:off x="914400" y="29443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6C4FE0"/>
                </a:solidFill>
              </a:rPr>
              <a:t>90 / 10</a:t>
            </a:r>
            <a:endParaRPr lang="en-US" sz="2500" dirty="0"/>
          </a:p>
        </p:txBody>
      </p:sp>
      <p:sp>
        <p:nvSpPr>
          <p:cNvPr id="9" name="tr-d-143"/>
          <p:cNvSpPr txBox="1"/>
          <p:nvPr/>
        </p:nvSpPr>
        <p:spPr>
          <a:xfrm>
            <a:off x="914400" y="3456432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14B74"/>
                </a:solidFill>
              </a:rPr>
              <a:t>Chronological, not shuffled — the validation set is the tail of the corpus.</a:t>
            </a:r>
            <a:endParaRPr lang="en-US" sz="1200" dirty="0"/>
          </a:p>
        </p:txBody>
      </p:sp>
      <p:sp>
        <p:nvSpPr>
          <p:cNvPr id="10" name="card-144"/>
          <p:cNvSpPr/>
          <p:nvPr/>
        </p:nvSpPr>
        <p:spPr>
          <a:xfrm>
            <a:off x="3520440" y="192024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11" name="glyph-circle-145"/>
          <p:cNvSpPr/>
          <p:nvPr/>
        </p:nvSpPr>
        <p:spPr>
          <a:xfrm>
            <a:off x="3794760" y="2148840"/>
            <a:ext cx="457200" cy="457200"/>
          </a:xfrm>
          <a:prstGeom prst="ellipse">
            <a:avLst/>
          </a:prstGeom>
          <a:solidFill>
            <a:srgbClr val="4A3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glyph-text-146"/>
          <p:cNvSpPr txBox="1"/>
          <p:nvPr/>
        </p:nvSpPr>
        <p:spPr>
          <a:xfrm>
            <a:off x="37947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▪</a:t>
            </a:r>
            <a:endParaRPr lang="en-US" sz="1600" dirty="0"/>
          </a:p>
        </p:txBody>
      </p:sp>
      <p:sp>
        <p:nvSpPr>
          <p:cNvPr id="13" name="tr-h-147"/>
          <p:cNvSpPr txBox="1"/>
          <p:nvPr/>
        </p:nvSpPr>
        <p:spPr>
          <a:xfrm>
            <a:off x="3794760" y="2697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7A7399"/>
                </a:solidFill>
              </a:rPr>
              <a:t>Hardware</a:t>
            </a:r>
            <a:endParaRPr lang="en-US" sz="1250" dirty="0"/>
          </a:p>
        </p:txBody>
      </p:sp>
      <p:sp>
        <p:nvSpPr>
          <p:cNvPr id="14" name="tr-big-148"/>
          <p:cNvSpPr txBox="1"/>
          <p:nvPr/>
        </p:nvSpPr>
        <p:spPr>
          <a:xfrm>
            <a:off x="3794760" y="29443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A3AA8"/>
                </a:solidFill>
              </a:rPr>
              <a:t>CPU</a:t>
            </a:r>
            <a:endParaRPr lang="en-US" sz="2500" dirty="0"/>
          </a:p>
        </p:txBody>
      </p:sp>
      <p:sp>
        <p:nvSpPr>
          <p:cNvPr id="15" name="tr-d-149"/>
          <p:cNvSpPr txBox="1"/>
          <p:nvPr/>
        </p:nvSpPr>
        <p:spPr>
          <a:xfrm>
            <a:off x="3794760" y="3456432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14B74"/>
                </a:solidFill>
              </a:rPr>
              <a:t>torch 2.x CPU build; roughly a minute per epoch on a laptop.</a:t>
            </a:r>
            <a:endParaRPr lang="en-US" sz="1200" dirty="0"/>
          </a:p>
        </p:txBody>
      </p:sp>
      <p:sp>
        <p:nvSpPr>
          <p:cNvPr id="16" name="card-150"/>
          <p:cNvSpPr/>
          <p:nvPr/>
        </p:nvSpPr>
        <p:spPr>
          <a:xfrm>
            <a:off x="6400800" y="192024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17" name="glyph-circle-151"/>
          <p:cNvSpPr/>
          <p:nvPr/>
        </p:nvSpPr>
        <p:spPr>
          <a:xfrm>
            <a:off x="6675120" y="2148840"/>
            <a:ext cx="457200" cy="457200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glyph-text-152"/>
          <p:cNvSpPr txBox="1"/>
          <p:nvPr/>
        </p:nvSpPr>
        <p:spPr>
          <a:xfrm>
            <a:off x="66751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▪</a:t>
            </a:r>
            <a:endParaRPr lang="en-US" sz="1600" dirty="0"/>
          </a:p>
        </p:txBody>
      </p:sp>
      <p:sp>
        <p:nvSpPr>
          <p:cNvPr id="19" name="tr-h-153"/>
          <p:cNvSpPr txBox="1"/>
          <p:nvPr/>
        </p:nvSpPr>
        <p:spPr>
          <a:xfrm>
            <a:off x="6675120" y="2697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7A7399"/>
                </a:solidFill>
              </a:rPr>
              <a:t>Regularisation</a:t>
            </a:r>
            <a:endParaRPr lang="en-US" sz="1250" dirty="0"/>
          </a:p>
        </p:txBody>
      </p:sp>
      <p:sp>
        <p:nvSpPr>
          <p:cNvPr id="20" name="tr-big-154"/>
          <p:cNvSpPr txBox="1"/>
          <p:nvPr/>
        </p:nvSpPr>
        <p:spPr>
          <a:xfrm>
            <a:off x="6675120" y="29443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533C"/>
                </a:solidFill>
              </a:rPr>
              <a:t>None</a:t>
            </a:r>
            <a:endParaRPr lang="en-US" sz="2500" dirty="0"/>
          </a:p>
        </p:txBody>
      </p:sp>
      <p:sp>
        <p:nvSpPr>
          <p:cNvPr id="21" name="tr-d-155"/>
          <p:cNvSpPr txBox="1"/>
          <p:nvPr/>
        </p:nvSpPr>
        <p:spPr>
          <a:xfrm>
            <a:off x="6675120" y="3456432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14B74"/>
                </a:solidFill>
              </a:rPr>
              <a:t>No dropout, weight decay, or early stopping in the submitted run.</a:t>
            </a:r>
            <a:endParaRPr lang="en-US" sz="1200" dirty="0"/>
          </a:p>
        </p:txBody>
      </p:sp>
      <p:sp>
        <p:nvSpPr>
          <p:cNvPr id="22" name="card-156"/>
          <p:cNvSpPr/>
          <p:nvPr/>
        </p:nvSpPr>
        <p:spPr>
          <a:xfrm>
            <a:off x="9281160" y="192024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23" name="glyph-circle-157"/>
          <p:cNvSpPr/>
          <p:nvPr/>
        </p:nvSpPr>
        <p:spPr>
          <a:xfrm>
            <a:off x="9555480" y="2148840"/>
            <a:ext cx="457200" cy="457200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glyph-text-158"/>
          <p:cNvSpPr txBox="1"/>
          <p:nvPr/>
        </p:nvSpPr>
        <p:spPr>
          <a:xfrm>
            <a:off x="9555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▪</a:t>
            </a:r>
            <a:endParaRPr lang="en-US" sz="1600" dirty="0"/>
          </a:p>
        </p:txBody>
      </p:sp>
      <p:sp>
        <p:nvSpPr>
          <p:cNvPr id="25" name="tr-h-159"/>
          <p:cNvSpPr txBox="1"/>
          <p:nvPr/>
        </p:nvSpPr>
        <p:spPr>
          <a:xfrm>
            <a:off x="9555480" y="2697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7A7399"/>
                </a:solidFill>
              </a:rPr>
              <a:t>Checkpoint</a:t>
            </a:r>
            <a:endParaRPr lang="en-US" sz="1250" dirty="0"/>
          </a:p>
        </p:txBody>
      </p:sp>
      <p:sp>
        <p:nvSpPr>
          <p:cNvPr id="26" name="tr-big-160"/>
          <p:cNvSpPr txBox="1"/>
          <p:nvPr/>
        </p:nvSpPr>
        <p:spPr>
          <a:xfrm>
            <a:off x="9555480" y="29443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BA89B"/>
                </a:solidFill>
              </a:rPr>
              <a:t>Last epoch</a:t>
            </a:r>
            <a:endParaRPr lang="en-US" sz="2500" dirty="0"/>
          </a:p>
        </p:txBody>
      </p:sp>
      <p:sp>
        <p:nvSpPr>
          <p:cNvPr id="27" name="tr-d-161"/>
          <p:cNvSpPr txBox="1"/>
          <p:nvPr/>
        </p:nvSpPr>
        <p:spPr>
          <a:xfrm>
            <a:off x="9555480" y="3456432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14B74"/>
                </a:solidFill>
              </a:rPr>
              <a:t>Weights plus the vocabulary and shape metadata, so generation self-configures.</a:t>
            </a:r>
            <a:endParaRPr lang="en-US" sz="1200" dirty="0"/>
          </a:p>
        </p:txBody>
      </p:sp>
      <p:sp>
        <p:nvSpPr>
          <p:cNvPr id="28" name="card-162"/>
          <p:cNvSpPr/>
          <p:nvPr/>
        </p:nvSpPr>
        <p:spPr>
          <a:xfrm>
            <a:off x="640080" y="452628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DF3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glyph-circle-163"/>
          <p:cNvSpPr/>
          <p:nvPr/>
        </p:nvSpPr>
        <p:spPr>
          <a:xfrm>
            <a:off x="914400" y="4754880"/>
            <a:ext cx="475488" cy="475488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glyph-text-164"/>
          <p:cNvSpPr txBox="1"/>
          <p:nvPr/>
        </p:nvSpPr>
        <p:spPr>
          <a:xfrm>
            <a:off x="914400" y="4754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22E"/>
                </a:solidFill>
              </a:rPr>
              <a:t>!</a:t>
            </a:r>
            <a:endParaRPr lang="en-US" sz="1800" dirty="0"/>
          </a:p>
        </p:txBody>
      </p:sp>
      <p:sp>
        <p:nvSpPr>
          <p:cNvPr id="31" name="tr-warn-165"/>
          <p:cNvSpPr txBox="1"/>
          <p:nvPr/>
        </p:nvSpPr>
        <p:spPr>
          <a:xfrm>
            <a:off x="1554480" y="473659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4A12"/>
                </a:solidFill>
              </a:rPr>
              <a:t>The run is not seeded. Re-running train.py reproduces the trend but not the exact numbers quoted here — a reproducibility gap we name rather than paper over.</a:t>
            </a:r>
            <a:endParaRPr lang="en-US" sz="1300" dirty="0"/>
          </a:p>
        </p:txBody>
      </p:sp>
      <p:sp>
        <p:nvSpPr>
          <p:cNvPr id="33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Training and validation loss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Cross-entropy per epoch, against a 4.48 uniform-guess baseline</a:t>
            </a:r>
            <a:endParaRPr lang="en-US" sz="1500" dirty="0"/>
          </a:p>
        </p:txBody>
      </p:sp>
      <p:graphicFrame>
        <p:nvGraphicFramePr>
          <p:cNvPr id="4" name="loss-chart-166" descr=""/>
          <p:cNvGraphicFramePr/>
          <p:nvPr/>
        </p:nvGraphicFramePr>
        <p:xfrm>
          <a:off x="640080" y="1783080"/>
          <a:ext cx="7452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s-dot-167"/>
          <p:cNvSpPr/>
          <p:nvPr/>
        </p:nvSpPr>
        <p:spPr>
          <a:xfrm>
            <a:off x="8458200" y="1956816"/>
            <a:ext cx="155448" cy="155448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rs-h-168"/>
          <p:cNvSpPr txBox="1"/>
          <p:nvPr/>
        </p:nvSpPr>
        <p:spPr>
          <a:xfrm>
            <a:off x="8796528" y="183794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122E"/>
                </a:solidFill>
              </a:rPr>
              <a:t>Training loss falls monotonically</a:t>
            </a:r>
            <a:endParaRPr lang="en-US" sz="1450" dirty="0"/>
          </a:p>
        </p:txBody>
      </p:sp>
      <p:sp>
        <p:nvSpPr>
          <p:cNvPr id="7" name="rs-d-169"/>
          <p:cNvSpPr txBox="1"/>
          <p:nvPr/>
        </p:nvSpPr>
        <p:spPr>
          <a:xfrm>
            <a:off x="8796528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3.764 → 3.087 over ten epochs. The model is learning real structure.</a:t>
            </a:r>
            <a:endParaRPr lang="en-US" sz="1250" dirty="0"/>
          </a:p>
        </p:txBody>
      </p:sp>
      <p:sp>
        <p:nvSpPr>
          <p:cNvPr id="8" name="rs-dot-170"/>
          <p:cNvSpPr/>
          <p:nvPr/>
        </p:nvSpPr>
        <p:spPr>
          <a:xfrm>
            <a:off x="8458200" y="3163824"/>
            <a:ext cx="155448" cy="155448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rs-h-171"/>
          <p:cNvSpPr txBox="1"/>
          <p:nvPr/>
        </p:nvSpPr>
        <p:spPr>
          <a:xfrm>
            <a:off x="8796528" y="30449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122E"/>
                </a:solidFill>
              </a:rPr>
              <a:t>Validation bottoms out at epoch 5</a:t>
            </a:r>
            <a:endParaRPr lang="en-US" sz="1450" dirty="0"/>
          </a:p>
        </p:txBody>
      </p:sp>
      <p:sp>
        <p:nvSpPr>
          <p:cNvPr id="10" name="rs-d-172"/>
          <p:cNvSpPr txBox="1"/>
          <p:nvPr/>
        </p:nvSpPr>
        <p:spPr>
          <a:xfrm>
            <a:off x="8796528" y="35387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3.343, then drifts back up to 3.411. Everything after epoch 5 is memorisation.</a:t>
            </a:r>
            <a:endParaRPr lang="en-US" sz="1250" dirty="0"/>
          </a:p>
        </p:txBody>
      </p:sp>
      <p:sp>
        <p:nvSpPr>
          <p:cNvPr id="11" name="rs-dot-173"/>
          <p:cNvSpPr/>
          <p:nvPr/>
        </p:nvSpPr>
        <p:spPr>
          <a:xfrm>
            <a:off x="8458200" y="4370832"/>
            <a:ext cx="155448" cy="155448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rs-h-174"/>
          <p:cNvSpPr txBox="1"/>
          <p:nvPr/>
        </p:nvSpPr>
        <p:spPr>
          <a:xfrm>
            <a:off x="8796528" y="4251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122E"/>
                </a:solidFill>
              </a:rPr>
              <a:t>Both beat the baseline comfortably</a:t>
            </a:r>
            <a:endParaRPr lang="en-US" sz="1450" dirty="0"/>
          </a:p>
        </p:txBody>
      </p:sp>
      <p:sp>
        <p:nvSpPr>
          <p:cNvPr id="13" name="rs-d-175"/>
          <p:cNvSpPr txBox="1"/>
          <p:nvPr/>
        </p:nvSpPr>
        <p:spPr>
          <a:xfrm>
            <a:off x="8796528" y="474573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A uniform guess over 88 pitches costs 4.477 — the gap is the learned signal.</a:t>
            </a:r>
            <a:endParaRPr lang="en-US" sz="1250" dirty="0"/>
          </a:p>
        </p:txBody>
      </p:sp>
      <p:sp>
        <p:nvSpPr>
          <p:cNvPr id="14" name="rs-cap-176"/>
          <p:cNvSpPr txBox="1"/>
          <p:nvPr/>
        </p:nvSpPr>
        <p:spPr>
          <a:xfrm>
            <a:off x="8458200" y="5532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A93B8"/>
                </a:solidFill>
              </a:rPr>
              <a:t>Epoch 1 and 10 are the logged values; intermediate points are read from results/training_loss.png.</a:t>
            </a:r>
            <a:endParaRPr lang="en-US" sz="1050" dirty="0"/>
          </a:p>
        </p:txBody>
      </p:sp>
      <p:sp>
        <p:nvSpPr>
          <p:cNvPr id="16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Reading the numbers honestly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294F0"/>
                </a:solidFill>
              </a:rPr>
              <a:t>What a loss of 3.41 actually means for the music</a:t>
            </a:r>
            <a:endParaRPr lang="en-US" sz="1500" dirty="0"/>
          </a:p>
        </p:txBody>
      </p:sp>
      <p:sp>
        <p:nvSpPr>
          <p:cNvPr id="4" name="stat-value-177"/>
          <p:cNvSpPr txBox="1"/>
          <p:nvPr/>
        </p:nvSpPr>
        <p:spPr>
          <a:xfrm>
            <a:off x="64008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C82BE"/>
                </a:solidFill>
              </a:rPr>
              <a:t>88</a:t>
            </a:r>
            <a:endParaRPr lang="en-US" sz="4800" dirty="0"/>
          </a:p>
        </p:txBody>
      </p:sp>
      <p:sp>
        <p:nvSpPr>
          <p:cNvPr id="5" name="stat-label-178"/>
          <p:cNvSpPr txBox="1"/>
          <p:nvPr/>
        </p:nvSpPr>
        <p:spPr>
          <a:xfrm>
            <a:off x="640080" y="28163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Uniform guess</a:t>
            </a:r>
            <a:endParaRPr lang="en-US" sz="1400" dirty="0"/>
          </a:p>
        </p:txBody>
      </p:sp>
      <p:sp>
        <p:nvSpPr>
          <p:cNvPr id="6" name="stat-note-179"/>
          <p:cNvSpPr txBox="1"/>
          <p:nvPr/>
        </p:nvSpPr>
        <p:spPr>
          <a:xfrm>
            <a:off x="640080" y="31272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4F0"/>
                </a:solidFill>
              </a:rPr>
              <a:t>Equivalent choices per note with no model at all.</a:t>
            </a:r>
            <a:endParaRPr lang="en-US" sz="1100" dirty="0"/>
          </a:p>
        </p:txBody>
      </p:sp>
      <p:sp>
        <p:nvSpPr>
          <p:cNvPr id="7" name="stat-value-180"/>
          <p:cNvSpPr txBox="1"/>
          <p:nvPr/>
        </p:nvSpPr>
        <p:spPr>
          <a:xfrm>
            <a:off x="347472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A341"/>
                </a:solidFill>
              </a:rPr>
              <a:t>30.3</a:t>
            </a:r>
            <a:endParaRPr lang="en-US" sz="4800" dirty="0"/>
          </a:p>
        </p:txBody>
      </p:sp>
      <p:sp>
        <p:nvSpPr>
          <p:cNvPr id="8" name="stat-label-181"/>
          <p:cNvSpPr txBox="1"/>
          <p:nvPr/>
        </p:nvSpPr>
        <p:spPr>
          <a:xfrm>
            <a:off x="3474720" y="28163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perplexity</a:t>
            </a:r>
            <a:endParaRPr lang="en-US" sz="1400" dirty="0"/>
          </a:p>
        </p:txBody>
      </p:sp>
      <p:sp>
        <p:nvSpPr>
          <p:cNvPr id="9" name="stat-note-182"/>
          <p:cNvSpPr txBox="1"/>
          <p:nvPr/>
        </p:nvSpPr>
        <p:spPr>
          <a:xfrm>
            <a:off x="3474720" y="31272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4F0"/>
                </a:solidFill>
              </a:rPr>
              <a:t>exp(3.411) — the model narrows 88 options to about 30.</a:t>
            </a:r>
            <a:endParaRPr lang="en-US" sz="1100" dirty="0"/>
          </a:p>
        </p:txBody>
      </p:sp>
      <p:sp>
        <p:nvSpPr>
          <p:cNvPr id="10" name="stat-value-183"/>
          <p:cNvSpPr txBox="1"/>
          <p:nvPr/>
        </p:nvSpPr>
        <p:spPr>
          <a:xfrm>
            <a:off x="630936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BA89B"/>
                </a:solidFill>
              </a:rPr>
              <a:t>28.3</a:t>
            </a:r>
            <a:endParaRPr lang="en-US" sz="4800" dirty="0"/>
          </a:p>
        </p:txBody>
      </p:sp>
      <p:sp>
        <p:nvSpPr>
          <p:cNvPr id="11" name="stat-label-184"/>
          <p:cNvSpPr txBox="1"/>
          <p:nvPr/>
        </p:nvSpPr>
        <p:spPr>
          <a:xfrm>
            <a:off x="6309360" y="28163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 achievable here</a:t>
            </a:r>
            <a:endParaRPr lang="en-US" sz="1400" dirty="0"/>
          </a:p>
        </p:txBody>
      </p:sp>
      <p:sp>
        <p:nvSpPr>
          <p:cNvPr id="12" name="stat-note-185"/>
          <p:cNvSpPr txBox="1"/>
          <p:nvPr/>
        </p:nvSpPr>
        <p:spPr>
          <a:xfrm>
            <a:off x="6309360" y="31272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4F0"/>
                </a:solidFill>
              </a:rPr>
              <a:t>exp(3.343) at epoch 5, the checkpoint we should have kept.</a:t>
            </a:r>
            <a:endParaRPr lang="en-US" sz="1100" dirty="0"/>
          </a:p>
        </p:txBody>
      </p:sp>
      <p:sp>
        <p:nvSpPr>
          <p:cNvPr id="13" name="stat-value-186"/>
          <p:cNvSpPr txBox="1"/>
          <p:nvPr/>
        </p:nvSpPr>
        <p:spPr>
          <a:xfrm>
            <a:off x="9144000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533C"/>
                </a:solidFill>
              </a:rPr>
              <a:t>0.07</a:t>
            </a:r>
            <a:endParaRPr lang="en-US" sz="4800" dirty="0"/>
          </a:p>
        </p:txBody>
      </p:sp>
      <p:sp>
        <p:nvSpPr>
          <p:cNvPr id="14" name="stat-label-187"/>
          <p:cNvSpPr txBox="1"/>
          <p:nvPr/>
        </p:nvSpPr>
        <p:spPr>
          <a:xfrm>
            <a:off x="9144000" y="2816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Loss left on the table</a:t>
            </a:r>
            <a:endParaRPr lang="en-US" sz="1400" dirty="0"/>
          </a:p>
        </p:txBody>
      </p:sp>
      <p:sp>
        <p:nvSpPr>
          <p:cNvPr id="15" name="stat-note-188"/>
          <p:cNvSpPr txBox="1"/>
          <p:nvPr/>
        </p:nvSpPr>
        <p:spPr>
          <a:xfrm>
            <a:off x="9144000" y="3127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294F0"/>
                </a:solidFill>
              </a:rPr>
              <a:t>The validation regression from training five epochs too long.</a:t>
            </a:r>
            <a:endParaRPr lang="en-US" sz="1100" dirty="0"/>
          </a:p>
        </p:txBody>
      </p:sp>
      <p:sp>
        <p:nvSpPr>
          <p:cNvPr id="16" name="card-189"/>
          <p:cNvSpPr/>
          <p:nvPr/>
        </p:nvSpPr>
        <p:spPr>
          <a:xfrm>
            <a:off x="640080" y="397764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231B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glyph-circle-190"/>
          <p:cNvSpPr/>
          <p:nvPr/>
        </p:nvSpPr>
        <p:spPr>
          <a:xfrm>
            <a:off x="932688" y="4224528"/>
            <a:ext cx="475488" cy="475488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glyph-text-191"/>
          <p:cNvSpPr txBox="1"/>
          <p:nvPr/>
        </p:nvSpPr>
        <p:spPr>
          <a:xfrm>
            <a:off x="932688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19" name="in-h1-192"/>
          <p:cNvSpPr txBox="1"/>
          <p:nvPr/>
        </p:nvSpPr>
        <p:spPr>
          <a:xfrm>
            <a:off x="1572768" y="422452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works</a:t>
            </a:r>
            <a:endParaRPr lang="en-US" sz="1700" dirty="0"/>
          </a:p>
        </p:txBody>
      </p:sp>
      <p:sp>
        <p:nvSpPr>
          <p:cNvPr id="20" name="in-b1-193"/>
          <p:cNvSpPr txBox="1"/>
          <p:nvPr/>
        </p:nvSpPr>
        <p:spPr>
          <a:xfrm>
            <a:off x="932688" y="477316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B9B0E4"/>
                </a:solidFill>
              </a:rPr>
              <a:t>Output stays inside a plausible pitch range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B9B0E4"/>
                </a:solidFill>
              </a:rPr>
              <a:t>Local intervals resemble the training corpus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B9B0E4"/>
                </a:solidFill>
              </a:rPr>
              <a:t>The MIDI opens and plays in MuseScore</a:t>
            </a:r>
            <a:endParaRPr lang="en-US" sz="1250" dirty="0"/>
          </a:p>
        </p:txBody>
      </p:sp>
      <p:sp>
        <p:nvSpPr>
          <p:cNvPr id="21" name="card-194"/>
          <p:cNvSpPr/>
          <p:nvPr/>
        </p:nvSpPr>
        <p:spPr>
          <a:xfrm>
            <a:off x="6172200" y="397764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3A1F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glyph-circle-195"/>
          <p:cNvSpPr/>
          <p:nvPr/>
        </p:nvSpPr>
        <p:spPr>
          <a:xfrm>
            <a:off x="6464808" y="4224528"/>
            <a:ext cx="475488" cy="475488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glyph-text-196"/>
          <p:cNvSpPr txBox="1"/>
          <p:nvPr/>
        </p:nvSpPr>
        <p:spPr>
          <a:xfrm>
            <a:off x="6464808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✕</a:t>
            </a:r>
            <a:endParaRPr lang="en-US" sz="1500" dirty="0"/>
          </a:p>
        </p:txBody>
      </p:sp>
      <p:sp>
        <p:nvSpPr>
          <p:cNvPr id="24" name="in-h2-197"/>
          <p:cNvSpPr txBox="1"/>
          <p:nvPr/>
        </p:nvSpPr>
        <p:spPr>
          <a:xfrm>
            <a:off x="7104888" y="422452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does not</a:t>
            </a:r>
            <a:endParaRPr lang="en-US" sz="1700" dirty="0"/>
          </a:p>
        </p:txBody>
      </p:sp>
      <p:sp>
        <p:nvSpPr>
          <p:cNvPr id="25" name="in-b2-198"/>
          <p:cNvSpPr txBox="1"/>
          <p:nvPr/>
        </p:nvSpPr>
        <p:spPr>
          <a:xfrm>
            <a:off x="6464808" y="477316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F0C4BC"/>
                </a:solidFill>
              </a:rPr>
              <a:t>No long-range structure — no phrases, no cadences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F0C4BC"/>
                </a:solidFill>
              </a:rPr>
              <a:t>Uniform eighth notes: rhythmically flat by construction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F0C4BC"/>
                </a:solidFill>
              </a:rPr>
              <a:t>Perplexity 30 of 88 is a weak prior, not a composer</a:t>
            </a:r>
            <a:endParaRPr lang="en-US" sz="1250" dirty="0"/>
          </a:p>
        </p:txBody>
      </p:sp>
      <p:sp>
        <p:nvSpPr>
          <p:cNvPr id="27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a new piece is generated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Autoregressive sampling with a temperature knob</a:t>
            </a:r>
            <a:endParaRPr lang="en-US" sz="1500" dirty="0"/>
          </a:p>
        </p:txBody>
      </p:sp>
      <p:sp>
        <p:nvSpPr>
          <p:cNvPr id="4" name="glyph-circle-199"/>
          <p:cNvSpPr/>
          <p:nvPr/>
        </p:nvSpPr>
        <p:spPr>
          <a:xfrm>
            <a:off x="640080" y="1828800"/>
            <a:ext cx="493776" cy="493776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glyph-text-200"/>
          <p:cNvSpPr txBox="1"/>
          <p:nvPr/>
        </p:nvSpPr>
        <p:spPr>
          <a:xfrm>
            <a:off x="640080" y="18288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g-h-201"/>
          <p:cNvSpPr txBox="1"/>
          <p:nvPr/>
        </p:nvSpPr>
        <p:spPr>
          <a:xfrm>
            <a:off x="1353312" y="18105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22E"/>
                </a:solidFill>
              </a:rPr>
              <a:t>Seed</a:t>
            </a:r>
            <a:endParaRPr lang="en-US" sz="1600" dirty="0"/>
          </a:p>
        </p:txBody>
      </p:sp>
      <p:sp>
        <p:nvSpPr>
          <p:cNvPr id="7" name="g-d-202"/>
          <p:cNvSpPr txBox="1"/>
          <p:nvPr/>
        </p:nvSpPr>
        <p:spPr>
          <a:xfrm>
            <a:off x="3337560" y="1810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The first 50 notes of the corpus prime the hidden state.</a:t>
            </a:r>
            <a:endParaRPr lang="en-US" sz="1250" dirty="0"/>
          </a:p>
        </p:txBody>
      </p:sp>
      <p:sp>
        <p:nvSpPr>
          <p:cNvPr id="8" name="glyph-circle-203"/>
          <p:cNvSpPr/>
          <p:nvPr/>
        </p:nvSpPr>
        <p:spPr>
          <a:xfrm>
            <a:off x="640080" y="2615184"/>
            <a:ext cx="493776" cy="493776"/>
          </a:xfrm>
          <a:prstGeom prst="ellipse">
            <a:avLst/>
          </a:prstGeom>
          <a:solidFill>
            <a:srgbClr val="4A3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glyph-text-204"/>
          <p:cNvSpPr txBox="1"/>
          <p:nvPr/>
        </p:nvSpPr>
        <p:spPr>
          <a:xfrm>
            <a:off x="640080" y="26151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g-h-205"/>
          <p:cNvSpPr txBox="1"/>
          <p:nvPr/>
        </p:nvSpPr>
        <p:spPr>
          <a:xfrm>
            <a:off x="1353312" y="259689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22E"/>
                </a:solidFill>
              </a:rPr>
              <a:t>Predict</a:t>
            </a:r>
            <a:endParaRPr lang="en-US" sz="1600" dirty="0"/>
          </a:p>
        </p:txBody>
      </p:sp>
      <p:sp>
        <p:nvSpPr>
          <p:cNvPr id="11" name="g-d-206"/>
          <p:cNvSpPr txBox="1"/>
          <p:nvPr/>
        </p:nvSpPr>
        <p:spPr>
          <a:xfrm>
            <a:off x="3337560" y="25968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The LSTM emits 88 logits for the next pitch.</a:t>
            </a:r>
            <a:endParaRPr lang="en-US" sz="1250" dirty="0"/>
          </a:p>
        </p:txBody>
      </p:sp>
      <p:sp>
        <p:nvSpPr>
          <p:cNvPr id="12" name="glyph-circle-207"/>
          <p:cNvSpPr/>
          <p:nvPr/>
        </p:nvSpPr>
        <p:spPr>
          <a:xfrm>
            <a:off x="640080" y="3401568"/>
            <a:ext cx="493776" cy="493776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glyph-text-208"/>
          <p:cNvSpPr txBox="1"/>
          <p:nvPr/>
        </p:nvSpPr>
        <p:spPr>
          <a:xfrm>
            <a:off x="640080" y="34015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22E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g-h-209"/>
          <p:cNvSpPr txBox="1"/>
          <p:nvPr/>
        </p:nvSpPr>
        <p:spPr>
          <a:xfrm>
            <a:off x="1353312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22E"/>
                </a:solidFill>
              </a:rPr>
              <a:t>Sample</a:t>
            </a:r>
            <a:endParaRPr lang="en-US" sz="1600" dirty="0"/>
          </a:p>
        </p:txBody>
      </p:sp>
      <p:sp>
        <p:nvSpPr>
          <p:cNvPr id="15" name="g-d-210"/>
          <p:cNvSpPr txBox="1"/>
          <p:nvPr/>
        </p:nvSpPr>
        <p:spPr>
          <a:xfrm>
            <a:off x="333756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softmax(logits / T), then multinomial draw — not argmax.</a:t>
            </a:r>
            <a:endParaRPr lang="en-US" sz="1250" dirty="0"/>
          </a:p>
        </p:txBody>
      </p:sp>
      <p:sp>
        <p:nvSpPr>
          <p:cNvPr id="16" name="glyph-circle-211"/>
          <p:cNvSpPr/>
          <p:nvPr/>
        </p:nvSpPr>
        <p:spPr>
          <a:xfrm>
            <a:off x="640080" y="4187952"/>
            <a:ext cx="493776" cy="493776"/>
          </a:xfrm>
          <a:prstGeom prst="ellipse">
            <a:avLst/>
          </a:prstGeom>
          <a:solidFill>
            <a:srgbClr val="A294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glyph-text-212"/>
          <p:cNvSpPr txBox="1"/>
          <p:nvPr/>
        </p:nvSpPr>
        <p:spPr>
          <a:xfrm>
            <a:off x="640080" y="4187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g-h-213"/>
          <p:cNvSpPr txBox="1"/>
          <p:nvPr/>
        </p:nvSpPr>
        <p:spPr>
          <a:xfrm>
            <a:off x="1353312" y="41696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22E"/>
                </a:solidFill>
              </a:rPr>
              <a:t>Append &amp; slide</a:t>
            </a:r>
            <a:endParaRPr lang="en-US" sz="1600" dirty="0"/>
          </a:p>
        </p:txBody>
      </p:sp>
      <p:sp>
        <p:nvSpPr>
          <p:cNvPr id="19" name="g-d-214"/>
          <p:cNvSpPr txBox="1"/>
          <p:nvPr/>
        </p:nvSpPr>
        <p:spPr>
          <a:xfrm>
            <a:off x="3337560" y="41696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The drawn note joins the sequence; the window advances by one.</a:t>
            </a:r>
            <a:endParaRPr lang="en-US" sz="1250" dirty="0"/>
          </a:p>
        </p:txBody>
      </p:sp>
      <p:sp>
        <p:nvSpPr>
          <p:cNvPr id="20" name="glyph-circle-215"/>
          <p:cNvSpPr/>
          <p:nvPr/>
        </p:nvSpPr>
        <p:spPr>
          <a:xfrm>
            <a:off x="640080" y="4974336"/>
            <a:ext cx="493776" cy="493776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glyph-text-216"/>
          <p:cNvSpPr txBox="1"/>
          <p:nvPr/>
        </p:nvSpPr>
        <p:spPr>
          <a:xfrm>
            <a:off x="640080" y="4974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g-h-217"/>
          <p:cNvSpPr txBox="1"/>
          <p:nvPr/>
        </p:nvSpPr>
        <p:spPr>
          <a:xfrm>
            <a:off x="1353312" y="4956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22E"/>
                </a:solidFill>
              </a:rPr>
              <a:t>Repeat ×200</a:t>
            </a:r>
            <a:endParaRPr lang="en-US" sz="1600" dirty="0"/>
          </a:p>
        </p:txBody>
      </p:sp>
      <p:sp>
        <p:nvSpPr>
          <p:cNvPr id="23" name="g-d-218"/>
          <p:cNvSpPr txBox="1"/>
          <p:nvPr/>
        </p:nvSpPr>
        <p:spPr>
          <a:xfrm>
            <a:off x="3337560" y="49560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The seed is dropped; only the 200 generated notes are written out.</a:t>
            </a:r>
            <a:endParaRPr lang="en-US" sz="1250" dirty="0"/>
          </a:p>
        </p:txBody>
      </p:sp>
      <p:sp>
        <p:nvSpPr>
          <p:cNvPr id="24" name="code-bg-219"/>
          <p:cNvSpPr/>
          <p:nvPr/>
        </p:nvSpPr>
        <p:spPr>
          <a:xfrm>
            <a:off x="6949440" y="1828800"/>
            <a:ext cx="4572000" cy="2148840"/>
          </a:xfrm>
          <a:prstGeom prst="roundRect">
            <a:avLst>
              <a:gd name="adj" fmla="val 2128"/>
            </a:avLst>
          </a:prstGeom>
          <a:solidFill>
            <a:srgbClr val="171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ode-text-220"/>
          <p:cNvSpPr txBox="1"/>
          <p:nvPr/>
        </p:nvSpPr>
        <p:spPr>
          <a:xfrm>
            <a:off x="7114032" y="1956816"/>
            <a:ext cx="424281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= torch.softmax(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/ TEMPERATURE, dim=1)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next_note = torch.multinomial(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probs, num_samples=1).item()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generated_notes.append(next_note)</a:t>
            </a:r>
            <a:endParaRPr lang="en-US" sz="1150" dirty="0"/>
          </a:p>
        </p:txBody>
      </p:sp>
      <p:sp>
        <p:nvSpPr>
          <p:cNvPr id="26" name="card-221"/>
          <p:cNvSpPr/>
          <p:nvPr/>
        </p:nvSpPr>
        <p:spPr>
          <a:xfrm>
            <a:off x="6949440" y="4114800"/>
            <a:ext cx="4572000" cy="1463040"/>
          </a:xfrm>
          <a:prstGeom prst="roundRect">
            <a:avLst>
              <a:gd name="adj" fmla="val 3750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g-wh-222"/>
          <p:cNvSpPr txBox="1"/>
          <p:nvPr/>
        </p:nvSpPr>
        <p:spPr>
          <a:xfrm>
            <a:off x="7223760" y="4297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22E"/>
                </a:solidFill>
              </a:rPr>
              <a:t>Why sample instead of take the argmax</a:t>
            </a:r>
            <a:endParaRPr lang="en-US" sz="1400" dirty="0"/>
          </a:p>
        </p:txBody>
      </p:sp>
      <p:sp>
        <p:nvSpPr>
          <p:cNvPr id="28" name="g-wd-223"/>
          <p:cNvSpPr txBox="1"/>
          <p:nvPr/>
        </p:nvSpPr>
        <p:spPr>
          <a:xfrm>
            <a:off x="7223760" y="46177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Greedy decoding collapses into a repeating loop within a few notes. Temperature T = 1.0 keeps the output varied; lowering T makes it safer and more repetitive, raising it makes it erratic.</a:t>
            </a:r>
            <a:endParaRPr lang="en-US" sz="1250" dirty="0"/>
          </a:p>
        </p:txBody>
      </p:sp>
      <p:sp>
        <p:nvSpPr>
          <p:cNvPr id="30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Live demonstration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294F0"/>
                </a:solidFill>
              </a:rPr>
              <a:t>Four commands, from raw MIDI to a file you can hear</a:t>
            </a:r>
            <a:endParaRPr lang="en-US" sz="1500" dirty="0"/>
          </a:p>
        </p:txBody>
      </p:sp>
      <p:sp>
        <p:nvSpPr>
          <p:cNvPr id="4" name="code-bg-224"/>
          <p:cNvSpPr/>
          <p:nvPr/>
        </p:nvSpPr>
        <p:spPr>
          <a:xfrm>
            <a:off x="640080" y="1874520"/>
            <a:ext cx="6035040" cy="2331720"/>
          </a:xfrm>
          <a:prstGeom prst="roundRect">
            <a:avLst>
              <a:gd name="adj" fmla="val 1961"/>
            </a:avLst>
          </a:prstGeom>
          <a:solidFill>
            <a:srgbClr val="0D0A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code-text-225"/>
          <p:cNvSpPr txBox="1"/>
          <p:nvPr/>
        </p:nvSpPr>
        <p:spPr>
          <a:xfrm>
            <a:off x="804672" y="2002536"/>
            <a:ext cx="570585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venv .venv &amp;&amp; .venv\Scripts\activate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src/preprocess.py     # → data/processed/notes.pkl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src/train.py          # → models/music_lstm.pth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src/generate.py       # → generated/generated_song.mid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generated_song.mid in MuseScore Studio</a:t>
            </a:r>
            <a:endParaRPr lang="en-US" sz="1150" dirty="0"/>
          </a:p>
        </p:txBody>
      </p:sp>
      <p:sp>
        <p:nvSpPr>
          <p:cNvPr id="6" name="dm-dot-226"/>
          <p:cNvSpPr/>
          <p:nvPr/>
        </p:nvSpPr>
        <p:spPr>
          <a:xfrm>
            <a:off x="7040880" y="1947672"/>
            <a:ext cx="155448" cy="155448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dm-h-227"/>
          <p:cNvSpPr txBox="1"/>
          <p:nvPr/>
        </p:nvSpPr>
        <p:spPr>
          <a:xfrm>
            <a:off x="7388352" y="18288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Show the corpus</a:t>
            </a:r>
            <a:endParaRPr lang="en-US" sz="1500" dirty="0"/>
          </a:p>
        </p:txBody>
      </p:sp>
      <p:sp>
        <p:nvSpPr>
          <p:cNvPr id="8" name="dm-d-228"/>
          <p:cNvSpPr txBox="1"/>
          <p:nvPr/>
        </p:nvSpPr>
        <p:spPr>
          <a:xfrm>
            <a:off x="7388352" y="21488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79EDA"/>
                </a:solidFill>
              </a:rPr>
              <a:t>20 .midi files in data/raw/, then run preprocess and read the counts aloud.</a:t>
            </a:r>
            <a:endParaRPr lang="en-US" sz="1250" dirty="0"/>
          </a:p>
        </p:txBody>
      </p:sp>
      <p:sp>
        <p:nvSpPr>
          <p:cNvPr id="9" name="dm-dot-229"/>
          <p:cNvSpPr/>
          <p:nvPr/>
        </p:nvSpPr>
        <p:spPr>
          <a:xfrm>
            <a:off x="7040880" y="2734056"/>
            <a:ext cx="155448" cy="155448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dm-h-230"/>
          <p:cNvSpPr txBox="1"/>
          <p:nvPr/>
        </p:nvSpPr>
        <p:spPr>
          <a:xfrm>
            <a:off x="7388352" y="261518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 live or show the plot</a:t>
            </a:r>
            <a:endParaRPr lang="en-US" sz="1500" dirty="0"/>
          </a:p>
        </p:txBody>
      </p:sp>
      <p:sp>
        <p:nvSpPr>
          <p:cNvPr id="11" name="dm-d-231"/>
          <p:cNvSpPr txBox="1"/>
          <p:nvPr/>
        </p:nvSpPr>
        <p:spPr>
          <a:xfrm>
            <a:off x="7388352" y="293522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79EDA"/>
                </a:solidFill>
              </a:rPr>
              <a:t>A full run is ~10 minutes; we show results/training_loss.png and point at epoch 5.</a:t>
            </a:r>
            <a:endParaRPr lang="en-US" sz="1250" dirty="0"/>
          </a:p>
        </p:txBody>
      </p:sp>
      <p:sp>
        <p:nvSpPr>
          <p:cNvPr id="12" name="dm-dot-232"/>
          <p:cNvSpPr/>
          <p:nvPr/>
        </p:nvSpPr>
        <p:spPr>
          <a:xfrm>
            <a:off x="7040880" y="3520440"/>
            <a:ext cx="155448" cy="155448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dm-h-233"/>
          <p:cNvSpPr txBox="1"/>
          <p:nvPr/>
        </p:nvSpPr>
        <p:spPr>
          <a:xfrm>
            <a:off x="7388352" y="340156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Generate and play</a:t>
            </a:r>
            <a:endParaRPr lang="en-US" sz="1500" dirty="0"/>
          </a:p>
        </p:txBody>
      </p:sp>
      <p:sp>
        <p:nvSpPr>
          <p:cNvPr id="14" name="dm-d-234"/>
          <p:cNvSpPr txBox="1"/>
          <p:nvPr/>
        </p:nvSpPr>
        <p:spPr>
          <a:xfrm>
            <a:off x="7388352" y="37216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79EDA"/>
                </a:solidFill>
              </a:rPr>
              <a:t>generate.py writes a fresh MIDI; open it in MuseScore and play 15 seconds.</a:t>
            </a:r>
            <a:endParaRPr lang="en-US" sz="1250" dirty="0"/>
          </a:p>
        </p:txBody>
      </p:sp>
      <p:sp>
        <p:nvSpPr>
          <p:cNvPr id="15" name="dm-dot-235"/>
          <p:cNvSpPr/>
          <p:nvPr/>
        </p:nvSpPr>
        <p:spPr>
          <a:xfrm>
            <a:off x="7040880" y="4306824"/>
            <a:ext cx="155448" cy="155448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dm-h-236"/>
          <p:cNvSpPr txBox="1"/>
          <p:nvPr/>
        </p:nvSpPr>
        <p:spPr>
          <a:xfrm>
            <a:off x="7388352" y="41879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Fallback</a:t>
            </a:r>
            <a:endParaRPr lang="en-US" sz="1500" dirty="0"/>
          </a:p>
        </p:txBody>
      </p:sp>
      <p:sp>
        <p:nvSpPr>
          <p:cNvPr id="17" name="dm-d-237"/>
          <p:cNvSpPr txBox="1"/>
          <p:nvPr/>
        </p:nvSpPr>
        <p:spPr>
          <a:xfrm>
            <a:off x="7388352" y="45079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79EDA"/>
                </a:solidFill>
              </a:rPr>
              <a:t>A pre-generated MIDI and the saved checkpoint are on disk if the live run stalls.</a:t>
            </a:r>
            <a:endParaRPr lang="en-US" sz="1250" dirty="0"/>
          </a:p>
        </p:txBody>
      </p:sp>
      <p:sp>
        <p:nvSpPr>
          <p:cNvPr id="18" name="dm-warn-238"/>
          <p:cNvSpPr txBox="1"/>
          <p:nvPr/>
        </p:nvSpPr>
        <p:spPr>
          <a:xfrm>
            <a:off x="640080" y="4434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2A341"/>
                </a:solidFill>
              </a:rPr>
              <a:t>Note: requirements.txt is UTF-16 encoded and pip cannot read it. Convert it to UTF-8 first - one iconv or Set-Content call, documented in the README.</a:t>
            </a:r>
            <a:endParaRPr lang="en-US" sz="1200" dirty="0"/>
          </a:p>
        </p:txBody>
      </p:sp>
      <p:sp>
        <p:nvSpPr>
          <p:cNvPr id="20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Limitations we know about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Stated plainly — each one is a deliberate scope cut, not an oversight</a:t>
            </a:r>
            <a:endParaRPr lang="en-US" sz="1500" dirty="0"/>
          </a:p>
        </p:txBody>
      </p:sp>
      <p:sp>
        <p:nvSpPr>
          <p:cNvPr id="4" name="card-239"/>
          <p:cNvSpPr/>
          <p:nvPr/>
        </p:nvSpPr>
        <p:spPr>
          <a:xfrm>
            <a:off x="640080" y="18288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5" name="lm-dot-240"/>
          <p:cNvSpPr/>
          <p:nvPr/>
        </p:nvSpPr>
        <p:spPr>
          <a:xfrm>
            <a:off x="914400" y="2121408"/>
            <a:ext cx="155448" cy="155448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lm-h-241"/>
          <p:cNvSpPr txBox="1"/>
          <p:nvPr/>
        </p:nvSpPr>
        <p:spPr>
          <a:xfrm>
            <a:off x="12344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Pitch only</a:t>
            </a:r>
            <a:endParaRPr lang="en-US" sz="1550" dirty="0"/>
          </a:p>
        </p:txBody>
      </p:sp>
      <p:sp>
        <p:nvSpPr>
          <p:cNvPr id="7" name="lm-d-242"/>
          <p:cNvSpPr txBox="1"/>
          <p:nvPr/>
        </p:nvSpPr>
        <p:spPr>
          <a:xfrm>
            <a:off x="914400" y="245059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Duration is hard-coded to an eighth note and velocity is dropped, so the output has no rhythm or dynamics.</a:t>
            </a:r>
            <a:endParaRPr lang="en-US" sz="1250" dirty="0"/>
          </a:p>
        </p:txBody>
      </p:sp>
      <p:sp>
        <p:nvSpPr>
          <p:cNvPr id="8" name="card-243"/>
          <p:cNvSpPr/>
          <p:nvPr/>
        </p:nvSpPr>
        <p:spPr>
          <a:xfrm>
            <a:off x="4434840" y="18288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9" name="lm-dot-244"/>
          <p:cNvSpPr/>
          <p:nvPr/>
        </p:nvSpPr>
        <p:spPr>
          <a:xfrm>
            <a:off x="4709160" y="2121408"/>
            <a:ext cx="155448" cy="155448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lm-h-245"/>
          <p:cNvSpPr txBox="1"/>
          <p:nvPr/>
        </p:nvSpPr>
        <p:spPr>
          <a:xfrm>
            <a:off x="50292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Harmony discarded</a:t>
            </a:r>
            <a:endParaRPr lang="en-US" sz="1550" dirty="0"/>
          </a:p>
        </p:txBody>
      </p:sp>
      <p:sp>
        <p:nvSpPr>
          <p:cNvPr id="11" name="lm-d-246"/>
          <p:cNvSpPr txBox="1"/>
          <p:nvPr/>
        </p:nvSpPr>
        <p:spPr>
          <a:xfrm>
            <a:off x="4709160" y="245059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Every chord is reduced to a single pitch, so the model never learns vertical structure.</a:t>
            </a:r>
            <a:endParaRPr lang="en-US" sz="1250" dirty="0"/>
          </a:p>
        </p:txBody>
      </p:sp>
      <p:sp>
        <p:nvSpPr>
          <p:cNvPr id="12" name="card-247"/>
          <p:cNvSpPr/>
          <p:nvPr/>
        </p:nvSpPr>
        <p:spPr>
          <a:xfrm>
            <a:off x="8229600" y="18288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13" name="lm-dot-248"/>
          <p:cNvSpPr/>
          <p:nvPr/>
        </p:nvSpPr>
        <p:spPr>
          <a:xfrm>
            <a:off x="8503920" y="2121408"/>
            <a:ext cx="155448" cy="155448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lm-h-249"/>
          <p:cNvSpPr txBox="1"/>
          <p:nvPr/>
        </p:nvSpPr>
        <p:spPr>
          <a:xfrm>
            <a:off x="882396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Sequences cross pieces</a:t>
            </a:r>
            <a:endParaRPr lang="en-US" sz="1550" dirty="0"/>
          </a:p>
        </p:txBody>
      </p:sp>
      <p:sp>
        <p:nvSpPr>
          <p:cNvPr id="15" name="lm-d-250"/>
          <p:cNvSpPr txBox="1"/>
          <p:nvPr/>
        </p:nvSpPr>
        <p:spPr>
          <a:xfrm>
            <a:off x="8503920" y="245059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Notes from all 20 files are concatenated, so some training windows straddle two unrelated performances.</a:t>
            </a:r>
            <a:endParaRPr lang="en-US" sz="1250" dirty="0"/>
          </a:p>
        </p:txBody>
      </p:sp>
      <p:sp>
        <p:nvSpPr>
          <p:cNvPr id="16" name="card-251"/>
          <p:cNvSpPr/>
          <p:nvPr/>
        </p:nvSpPr>
        <p:spPr>
          <a:xfrm>
            <a:off x="640080" y="3685032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17" name="lm-dot-252"/>
          <p:cNvSpPr/>
          <p:nvPr/>
        </p:nvSpPr>
        <p:spPr>
          <a:xfrm>
            <a:off x="914400" y="3977640"/>
            <a:ext cx="155448" cy="155448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lm-h-253"/>
          <p:cNvSpPr txBox="1"/>
          <p:nvPr/>
        </p:nvSpPr>
        <p:spPr>
          <a:xfrm>
            <a:off x="1234440" y="3867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Overlapping split</a:t>
            </a:r>
            <a:endParaRPr lang="en-US" sz="1550" dirty="0"/>
          </a:p>
        </p:txBody>
      </p:sp>
      <p:sp>
        <p:nvSpPr>
          <p:cNvPr id="19" name="lm-d-254"/>
          <p:cNvSpPr txBox="1"/>
          <p:nvPr/>
        </p:nvSpPr>
        <p:spPr>
          <a:xfrm>
            <a:off x="914400" y="430682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Train and validation windows share up to 49 notes at the boundary, so validation loss is mildly optimistic.</a:t>
            </a:r>
            <a:endParaRPr lang="en-US" sz="1250" dirty="0"/>
          </a:p>
        </p:txBody>
      </p:sp>
      <p:sp>
        <p:nvSpPr>
          <p:cNvPr id="20" name="card-255"/>
          <p:cNvSpPr/>
          <p:nvPr/>
        </p:nvSpPr>
        <p:spPr>
          <a:xfrm>
            <a:off x="4434840" y="3685032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21" name="lm-dot-256"/>
          <p:cNvSpPr/>
          <p:nvPr/>
        </p:nvSpPr>
        <p:spPr>
          <a:xfrm>
            <a:off x="4709160" y="3977640"/>
            <a:ext cx="155448" cy="155448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lm-h-257"/>
          <p:cNvSpPr txBox="1"/>
          <p:nvPr/>
        </p:nvSpPr>
        <p:spPr>
          <a:xfrm>
            <a:off x="5029200" y="3867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No early stopping</a:t>
            </a:r>
            <a:endParaRPr lang="en-US" sz="1550" dirty="0"/>
          </a:p>
        </p:txBody>
      </p:sp>
      <p:sp>
        <p:nvSpPr>
          <p:cNvPr id="23" name="lm-d-258"/>
          <p:cNvSpPr txBox="1"/>
          <p:nvPr/>
        </p:nvSpPr>
        <p:spPr>
          <a:xfrm>
            <a:off x="4709160" y="430682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The submitted checkpoint is epoch 10, which is measurably worse than epoch 5.</a:t>
            </a:r>
            <a:endParaRPr lang="en-US" sz="1250" dirty="0"/>
          </a:p>
        </p:txBody>
      </p:sp>
      <p:sp>
        <p:nvSpPr>
          <p:cNvPr id="24" name="card-259"/>
          <p:cNvSpPr/>
          <p:nvPr/>
        </p:nvSpPr>
        <p:spPr>
          <a:xfrm>
            <a:off x="8229600" y="3685032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3F1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25400" dir="5400000">
              <a:srgbClr val="17122E">
                <a:alpha val="10000"/>
              </a:srgbClr>
            </a:outerShdw>
          </a:effectLst>
        </p:spPr>
      </p:sp>
      <p:sp>
        <p:nvSpPr>
          <p:cNvPr id="25" name="lm-dot-260"/>
          <p:cNvSpPr/>
          <p:nvPr/>
        </p:nvSpPr>
        <p:spPr>
          <a:xfrm>
            <a:off x="8503920" y="3977640"/>
            <a:ext cx="155448" cy="155448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lm-h-261"/>
          <p:cNvSpPr txBox="1"/>
          <p:nvPr/>
        </p:nvSpPr>
        <p:spPr>
          <a:xfrm>
            <a:off x="8823960" y="3867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No listening study</a:t>
            </a:r>
            <a:endParaRPr lang="en-US" sz="1550" dirty="0"/>
          </a:p>
        </p:txBody>
      </p:sp>
      <p:sp>
        <p:nvSpPr>
          <p:cNvPr id="27" name="lm-d-262"/>
          <p:cNvSpPr txBox="1"/>
          <p:nvPr/>
        </p:nvSpPr>
        <p:spPr>
          <a:xfrm>
            <a:off x="8503920" y="430682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Quality is argued from loss and inspection; no human evaluation was run.</a:t>
            </a:r>
            <a:endParaRPr lang="en-US" sz="1250" dirty="0"/>
          </a:p>
        </p:txBody>
      </p:sp>
      <p:sp>
        <p:nvSpPr>
          <p:cNvPr id="28" name="lm-key-263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7399"/>
                </a:solidFill>
              </a:rPr>
              <a:t>Amber items are defects our code review found in the current implementation; violet items are design choices we would revisit with more time.</a:t>
            </a:r>
            <a:endParaRPr lang="en-US" sz="1200" dirty="0"/>
          </a:p>
        </p:txBody>
      </p:sp>
      <p:sp>
        <p:nvSpPr>
          <p:cNvPr id="30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our own code review found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Eight defects in the code as it stands, and what fixing each one takes</a:t>
            </a:r>
            <a:endParaRPr lang="en-US" sz="1500" dirty="0"/>
          </a:p>
        </p:txBody>
      </p:sp>
      <p:graphicFrame>
        <p:nvGraphicFramePr>
          <p:cNvPr id="15" name="fix-table-2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42062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Issue found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fixing it takes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6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3560"/>
                          </a:solidFill>
                        </a:rPr>
                        <a:t>requirements.txt is UTF-16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pip install fails outright — setup is blocked on a clean machine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Re-save as UTF-8; list direct dependencies only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3560"/>
                          </a:solidFill>
                        </a:rPr>
                        <a:t>Windows become cross-piece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Some training targets are musically meaningless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Group notes per file; window inside each group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3560"/>
                          </a:solidFill>
                        </a:rPr>
                        <a:t>Train / validation overlap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Validation loss is optimistic by up to 49 shared notes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Excise a 50-note gap at the split point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3560"/>
                          </a:solidFill>
                        </a:rPr>
                        <a:t>No random seed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Reported numbers cannot be reproduced exactly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Seed torch, numpy and random; expose it as a flag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3560"/>
                          </a:solidFill>
                        </a:rPr>
                        <a:t>Last-epoch checkpoint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The saved model is past the validation minimum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Checkpoint on best validation loss, not last epoch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3560"/>
                          </a:solidFill>
                        </a:rPr>
                        <a:t>Model class duplicated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train.py and generate.py can silently drift apart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One definition in src/model.py, imported by both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3560"/>
                          </a:solidFill>
                        </a:rPr>
                        <a:t>Validation in one batch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Peak memory grows with the corpus; will not scale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Mini-batch validation; log accuracy and perplexity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3560"/>
                          </a:solidFill>
                        </a:rPr>
                        <a:t>Chord takes the wrong pitch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pitches[0] is not the lowest note the comment promises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3560"/>
                          </a:solidFill>
                        </a:rPr>
                        <a:t>min(element.pitches) - what the comment already claims</a:t>
                      </a:r>
                      <a:endParaRPr lang="en-US" sz="11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ix-note-265"/>
          <p:cNvSpPr txBox="1"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4A3AA8"/>
                </a:solidFill>
              </a:rPr>
              <a:t>Section 6 of the technical report documents each finding, its evidence and its remedy. D1 is the one to fix first - it blocks setup on any clean machine.</a:t>
            </a:r>
            <a:endParaRPr lang="en-US" sz="1150" dirty="0"/>
          </a:p>
        </p:txBody>
      </p:sp>
      <p:sp>
        <p:nvSpPr>
          <p:cNvPr id="7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we would take it next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A3AA8"/>
                </a:solidFill>
              </a:rPr>
              <a:t>Ordered by expected gain per unit of effort</a:t>
            </a:r>
            <a:endParaRPr lang="en-US" sz="1500" dirty="0"/>
          </a:p>
        </p:txBody>
      </p:sp>
      <p:sp>
        <p:nvSpPr>
          <p:cNvPr id="4" name="fu-pill-266"/>
          <p:cNvSpPr/>
          <p:nvPr/>
        </p:nvSpPr>
        <p:spPr>
          <a:xfrm>
            <a:off x="640080" y="1865376"/>
            <a:ext cx="1280160" cy="347472"/>
          </a:xfrm>
          <a:prstGeom prst="roundRect">
            <a:avLst>
              <a:gd name="adj" fmla="val 131579"/>
            </a:avLst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fu-pt-267"/>
          <p:cNvSpPr txBox="1"/>
          <p:nvPr/>
        </p:nvSpPr>
        <p:spPr>
          <a:xfrm>
            <a:off x="640080" y="1865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Near term</a:t>
            </a:r>
            <a:endParaRPr lang="en-US" sz="1050" dirty="0"/>
          </a:p>
        </p:txBody>
      </p:sp>
      <p:sp>
        <p:nvSpPr>
          <p:cNvPr id="6" name="fu-h-268"/>
          <p:cNvSpPr txBox="1"/>
          <p:nvPr/>
        </p:nvSpPr>
        <p:spPr>
          <a:xfrm>
            <a:off x="2148840" y="18105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Model duration and velocity</a:t>
            </a:r>
            <a:endParaRPr lang="en-US" sz="1550" dirty="0"/>
          </a:p>
        </p:txBody>
      </p:sp>
      <p:sp>
        <p:nvSpPr>
          <p:cNvPr id="7" name="fu-d-269"/>
          <p:cNvSpPr txBox="1"/>
          <p:nvPr/>
        </p:nvSpPr>
        <p:spPr>
          <a:xfrm>
            <a:off x="5852160" y="181051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Predict a (pitch, duration) pair so the output has rhythm — the single biggest perceptual win available.</a:t>
            </a:r>
            <a:endParaRPr lang="en-US" sz="1250" dirty="0"/>
          </a:p>
        </p:txBody>
      </p:sp>
      <p:sp>
        <p:nvSpPr>
          <p:cNvPr id="8" name="fu-pill-270"/>
          <p:cNvSpPr/>
          <p:nvPr/>
        </p:nvSpPr>
        <p:spPr>
          <a:xfrm>
            <a:off x="640080" y="2670048"/>
            <a:ext cx="1280160" cy="347472"/>
          </a:xfrm>
          <a:prstGeom prst="roundRect">
            <a:avLst>
              <a:gd name="adj" fmla="val 131579"/>
            </a:avLst>
          </a:prstGeom>
          <a:solidFill>
            <a:srgbClr val="4A3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fu-pt-271"/>
          <p:cNvSpPr txBox="1"/>
          <p:nvPr/>
        </p:nvSpPr>
        <p:spPr>
          <a:xfrm>
            <a:off x="640080" y="26700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Near term</a:t>
            </a:r>
            <a:endParaRPr lang="en-US" sz="1050" dirty="0"/>
          </a:p>
        </p:txBody>
      </p:sp>
      <p:sp>
        <p:nvSpPr>
          <p:cNvPr id="10" name="fu-h-272"/>
          <p:cNvSpPr txBox="1"/>
          <p:nvPr/>
        </p:nvSpPr>
        <p:spPr>
          <a:xfrm>
            <a:off x="2148840" y="26151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Scale the corpus</a:t>
            </a:r>
            <a:endParaRPr lang="en-US" sz="1550" dirty="0"/>
          </a:p>
        </p:txBody>
      </p:sp>
      <p:sp>
        <p:nvSpPr>
          <p:cNvPr id="11" name="fu-d-273"/>
          <p:cNvSpPr txBox="1"/>
          <p:nvPr/>
        </p:nvSpPr>
        <p:spPr>
          <a:xfrm>
            <a:off x="5852160" y="261518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MAESTRO has 1,276 performances; we used 20. More data directly attacks the overfitting we measured.</a:t>
            </a:r>
            <a:endParaRPr lang="en-US" sz="1250" dirty="0"/>
          </a:p>
        </p:txBody>
      </p:sp>
      <p:sp>
        <p:nvSpPr>
          <p:cNvPr id="12" name="fu-pill-274"/>
          <p:cNvSpPr/>
          <p:nvPr/>
        </p:nvSpPr>
        <p:spPr>
          <a:xfrm>
            <a:off x="640080" y="3474720"/>
            <a:ext cx="1280160" cy="347472"/>
          </a:xfrm>
          <a:prstGeom prst="roundRect">
            <a:avLst>
              <a:gd name="adj" fmla="val 131579"/>
            </a:avLst>
          </a:prstGeom>
          <a:solidFill>
            <a:srgbClr val="A294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fu-pt-275"/>
          <p:cNvSpPr txBox="1"/>
          <p:nvPr/>
        </p:nvSpPr>
        <p:spPr>
          <a:xfrm>
            <a:off x="640080" y="3474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Medium term</a:t>
            </a:r>
            <a:endParaRPr lang="en-US" sz="1050" dirty="0"/>
          </a:p>
        </p:txBody>
      </p:sp>
      <p:sp>
        <p:nvSpPr>
          <p:cNvPr id="14" name="fu-h-276"/>
          <p:cNvSpPr txBox="1"/>
          <p:nvPr/>
        </p:nvSpPr>
        <p:spPr>
          <a:xfrm>
            <a:off x="2148840" y="3419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Stack layers, add dropout</a:t>
            </a:r>
            <a:endParaRPr lang="en-US" sz="1550" dirty="0"/>
          </a:p>
        </p:txBody>
      </p:sp>
      <p:sp>
        <p:nvSpPr>
          <p:cNvPr id="15" name="fu-d-277"/>
          <p:cNvSpPr txBox="1"/>
          <p:nvPr/>
        </p:nvSpPr>
        <p:spPr>
          <a:xfrm>
            <a:off x="5852160" y="341985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Two LSTM layers with dropout, tuned against the validation curve rather than a fixed epoch budget.</a:t>
            </a:r>
            <a:endParaRPr lang="en-US" sz="1250" dirty="0"/>
          </a:p>
        </p:txBody>
      </p:sp>
      <p:sp>
        <p:nvSpPr>
          <p:cNvPr id="16" name="fu-pill-278"/>
          <p:cNvSpPr/>
          <p:nvPr/>
        </p:nvSpPr>
        <p:spPr>
          <a:xfrm>
            <a:off x="640080" y="4279392"/>
            <a:ext cx="1280160" cy="347472"/>
          </a:xfrm>
          <a:prstGeom prst="roundRect">
            <a:avLst>
              <a:gd name="adj" fmla="val 131579"/>
            </a:avLst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fu-pt-279"/>
          <p:cNvSpPr txBox="1"/>
          <p:nvPr/>
        </p:nvSpPr>
        <p:spPr>
          <a:xfrm>
            <a:off x="640080" y="4279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Medium term</a:t>
            </a:r>
            <a:endParaRPr lang="en-US" sz="1050" dirty="0"/>
          </a:p>
        </p:txBody>
      </p:sp>
      <p:sp>
        <p:nvSpPr>
          <p:cNvPr id="18" name="fu-h-280"/>
          <p:cNvSpPr txBox="1"/>
          <p:nvPr/>
        </p:nvSpPr>
        <p:spPr>
          <a:xfrm>
            <a:off x="2148840" y="42245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Benchmark against a Transformer</a:t>
            </a:r>
            <a:endParaRPr lang="en-US" sz="1550" dirty="0"/>
          </a:p>
        </p:txBody>
      </p:sp>
      <p:sp>
        <p:nvSpPr>
          <p:cNvPr id="19" name="fu-d-281"/>
          <p:cNvSpPr txBox="1"/>
          <p:nvPr/>
        </p:nvSpPr>
        <p:spPr>
          <a:xfrm>
            <a:off x="5852160" y="42245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A small self-attention model on the same data, compared on validation perplexity.</a:t>
            </a:r>
            <a:endParaRPr lang="en-US" sz="1250" dirty="0"/>
          </a:p>
        </p:txBody>
      </p:sp>
      <p:sp>
        <p:nvSpPr>
          <p:cNvPr id="20" name="fu-pill-282"/>
          <p:cNvSpPr/>
          <p:nvPr/>
        </p:nvSpPr>
        <p:spPr>
          <a:xfrm>
            <a:off x="640080" y="5084064"/>
            <a:ext cx="1280160" cy="347472"/>
          </a:xfrm>
          <a:prstGeom prst="roundRect">
            <a:avLst>
              <a:gd name="adj" fmla="val 131579"/>
            </a:avLst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fu-pt-283"/>
          <p:cNvSpPr txBox="1"/>
          <p:nvPr/>
        </p:nvSpPr>
        <p:spPr>
          <a:xfrm>
            <a:off x="640080" y="50840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22E"/>
                </a:solidFill>
              </a:rPr>
              <a:t>Longer term</a:t>
            </a:r>
            <a:endParaRPr lang="en-US" sz="1050" dirty="0"/>
          </a:p>
        </p:txBody>
      </p:sp>
      <p:sp>
        <p:nvSpPr>
          <p:cNvPr id="22" name="fu-h-284"/>
          <p:cNvSpPr txBox="1"/>
          <p:nvPr/>
        </p:nvSpPr>
        <p:spPr>
          <a:xfrm>
            <a:off x="2148840" y="50292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122E"/>
                </a:solidFill>
              </a:rPr>
              <a:t>Evaluate with listeners</a:t>
            </a:r>
            <a:endParaRPr lang="en-US" sz="1550" dirty="0"/>
          </a:p>
        </p:txBody>
      </p:sp>
      <p:sp>
        <p:nvSpPr>
          <p:cNvPr id="23" name="fu-d-285"/>
          <p:cNvSpPr txBox="1"/>
          <p:nvPr/>
        </p:nvSpPr>
        <p:spPr>
          <a:xfrm>
            <a:off x="5852160" y="50292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14B74"/>
                </a:solidFill>
              </a:rPr>
              <a:t>A blind A/B listening study against real MAESTRO excerpts — the only measure that matters musically.</a:t>
            </a:r>
            <a:endParaRPr lang="en-US" sz="1250" dirty="0"/>
          </a:p>
        </p:txBody>
      </p:sp>
      <p:sp>
        <p:nvSpPr>
          <p:cNvPr id="25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we built, and what we learned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1887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294F0"/>
                </a:solidFill>
              </a:rPr>
              <a:t>A complete pipeline, a measured result, and a clear list of what is next</a:t>
            </a:r>
            <a:endParaRPr lang="en-US" sz="1500" dirty="0"/>
          </a:p>
        </p:txBody>
      </p:sp>
      <p:sp>
        <p:nvSpPr>
          <p:cNvPr id="4" name="glyph-circle-286"/>
          <p:cNvSpPr/>
          <p:nvPr/>
        </p:nvSpPr>
        <p:spPr>
          <a:xfrm>
            <a:off x="640080" y="1874520"/>
            <a:ext cx="512064" cy="512064"/>
          </a:xfrm>
          <a:prstGeom prst="ellipse">
            <a:avLst/>
          </a:prstGeom>
          <a:solidFill>
            <a:srgbClr val="2BA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glyph-text-287"/>
          <p:cNvSpPr txBox="1"/>
          <p:nvPr/>
        </p:nvSpPr>
        <p:spPr>
          <a:xfrm>
            <a:off x="64008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cl-h-288"/>
          <p:cNvSpPr txBox="1"/>
          <p:nvPr/>
        </p:nvSpPr>
        <p:spPr>
          <a:xfrm>
            <a:off x="1389888" y="1837944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The pipeline is complete and reproducible</a:t>
            </a:r>
            <a:endParaRPr lang="en-US" sz="1650" dirty="0"/>
          </a:p>
        </p:txBody>
      </p:sp>
      <p:sp>
        <p:nvSpPr>
          <p:cNvPr id="7" name="cl-d-289"/>
          <p:cNvSpPr txBox="1"/>
          <p:nvPr/>
        </p:nvSpPr>
        <p:spPr>
          <a:xfrm>
            <a:off x="6400800" y="18379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9EDA"/>
                </a:solidFill>
              </a:rPr>
              <a:t>MIDI → notes → sequences → LSTM → sampled MIDI, in four scripts that each run on their own.</a:t>
            </a:r>
            <a:endParaRPr lang="en-US" sz="1300" dirty="0"/>
          </a:p>
        </p:txBody>
      </p:sp>
      <p:sp>
        <p:nvSpPr>
          <p:cNvPr id="8" name="glyph-circle-290"/>
          <p:cNvSpPr/>
          <p:nvPr/>
        </p:nvSpPr>
        <p:spPr>
          <a:xfrm>
            <a:off x="640080" y="2724912"/>
            <a:ext cx="512064" cy="512064"/>
          </a:xfrm>
          <a:prstGeom prst="ellipse">
            <a:avLst/>
          </a:prstGeom>
          <a:solidFill>
            <a:srgbClr val="6C4F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glyph-text-291"/>
          <p:cNvSpPr txBox="1"/>
          <p:nvPr/>
        </p:nvSpPr>
        <p:spPr>
          <a:xfrm>
            <a:off x="640080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cl-h-292"/>
          <p:cNvSpPr txBox="1"/>
          <p:nvPr/>
        </p:nvSpPr>
        <p:spPr>
          <a:xfrm>
            <a:off x="1389888" y="2688336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The model learns real structure</a:t>
            </a:r>
            <a:endParaRPr lang="en-US" sz="1650" dirty="0"/>
          </a:p>
        </p:txBody>
      </p:sp>
      <p:sp>
        <p:nvSpPr>
          <p:cNvPr id="11" name="cl-d-293"/>
          <p:cNvSpPr txBox="1"/>
          <p:nvPr/>
        </p:nvSpPr>
        <p:spPr>
          <a:xfrm>
            <a:off x="6400800" y="268833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9EDA"/>
                </a:solidFill>
              </a:rPr>
              <a:t>Validation perplexity 30 against an 88-way uniform baseline, on 82K notes and a CPU budget.</a:t>
            </a:r>
            <a:endParaRPr lang="en-US" sz="1300" dirty="0"/>
          </a:p>
        </p:txBody>
      </p:sp>
      <p:sp>
        <p:nvSpPr>
          <p:cNvPr id="12" name="glyph-circle-294"/>
          <p:cNvSpPr/>
          <p:nvPr/>
        </p:nvSpPr>
        <p:spPr>
          <a:xfrm>
            <a:off x="640080" y="3575304"/>
            <a:ext cx="512064" cy="512064"/>
          </a:xfrm>
          <a:prstGeom prst="ellipse">
            <a:avLst/>
          </a:prstGeom>
          <a:solidFill>
            <a:srgbClr val="D953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glyph-text-295"/>
          <p:cNvSpPr txBox="1"/>
          <p:nvPr/>
        </p:nvSpPr>
        <p:spPr>
          <a:xfrm>
            <a:off x="640080" y="35753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cl-h-296"/>
          <p:cNvSpPr txBox="1"/>
          <p:nvPr/>
        </p:nvSpPr>
        <p:spPr>
          <a:xfrm>
            <a:off x="1389888" y="3538728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The interesting result is the failure mode</a:t>
            </a:r>
            <a:endParaRPr lang="en-US" sz="1650" dirty="0"/>
          </a:p>
        </p:txBody>
      </p:sp>
      <p:sp>
        <p:nvSpPr>
          <p:cNvPr id="15" name="cl-d-297"/>
          <p:cNvSpPr txBox="1"/>
          <p:nvPr/>
        </p:nvSpPr>
        <p:spPr>
          <a:xfrm>
            <a:off x="6400800" y="353872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9EDA"/>
                </a:solidFill>
              </a:rPr>
              <a:t>Validation loss turns upward at epoch 5 — overfitting is the finding, not a footnote.</a:t>
            </a:r>
            <a:endParaRPr lang="en-US" sz="1300" dirty="0"/>
          </a:p>
        </p:txBody>
      </p:sp>
      <p:sp>
        <p:nvSpPr>
          <p:cNvPr id="16" name="glyph-circle-298"/>
          <p:cNvSpPr/>
          <p:nvPr/>
        </p:nvSpPr>
        <p:spPr>
          <a:xfrm>
            <a:off x="640080" y="4425696"/>
            <a:ext cx="512064" cy="512064"/>
          </a:xfrm>
          <a:prstGeom prst="ellipse">
            <a:avLst/>
          </a:prstGeom>
          <a:solidFill>
            <a:srgbClr val="F2A3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glyph-text-299"/>
          <p:cNvSpPr txBox="1"/>
          <p:nvPr/>
        </p:nvSpPr>
        <p:spPr>
          <a:xfrm>
            <a:off x="640080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22E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cl-h-300"/>
          <p:cNvSpPr txBox="1"/>
          <p:nvPr/>
        </p:nvSpPr>
        <p:spPr>
          <a:xfrm>
            <a:off x="1389888" y="4389120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Reading your own code critically pays</a:t>
            </a:r>
            <a:endParaRPr lang="en-US" sz="1650" dirty="0"/>
          </a:p>
        </p:txBody>
      </p:sp>
      <p:sp>
        <p:nvSpPr>
          <p:cNvPr id="19" name="cl-d-301"/>
          <p:cNvSpPr txBox="1"/>
          <p:nvPr/>
        </p:nvSpPr>
        <p:spPr>
          <a:xfrm>
            <a:off x="6400800" y="43891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9EDA"/>
                </a:solidFill>
              </a:rPr>
              <a:t>Eight defects found by reading our own diff adversarially - one of them blocks setup outright.</a:t>
            </a:r>
            <a:endParaRPr lang="en-US" sz="1300" dirty="0"/>
          </a:p>
        </p:txBody>
      </p:sp>
      <p:sp>
        <p:nvSpPr>
          <p:cNvPr id="20" name="cl-q-302"/>
          <p:cNvSpPr txBox="1"/>
          <p:nvPr/>
        </p:nvSpPr>
        <p:spPr>
          <a:xfrm>
            <a:off x="64008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A341"/>
                </a:solidFill>
              </a:rPr>
              <a:t>Questions</a:t>
            </a:r>
            <a:endParaRPr lang="en-US" sz="3000" dirty="0"/>
          </a:p>
        </p:txBody>
      </p:sp>
      <p:sp>
        <p:nvSpPr>
          <p:cNvPr id="21" name="cl-repo-303"/>
          <p:cNvSpPr txBox="1"/>
          <p:nvPr/>
        </p:nvSpPr>
        <p:spPr>
          <a:xfrm>
            <a:off x="649224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C82BE"/>
                </a:solidFill>
              </a:rPr>
              <a:t>github.com/hamsa646/music-generation-ml</a:t>
            </a:r>
            <a:endParaRPr lang="en-US" sz="1300" dirty="0"/>
          </a:p>
        </p:txBody>
      </p:sp>
      <p:sp>
        <p:nvSpPr>
          <p:cNvPr id="23" name="Text 1"/>
          <p:cNvSpPr/>
          <p:nvPr>
            <p:ph idx="103" hasCustomPrompt="1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cturne ML">
  <a:themeElements>
    <a:clrScheme name="Nocturne ML">
      <a:dk1>
        <a:srgbClr val="17122E"/>
      </a:dk1>
      <a:lt1>
        <a:srgbClr val="FFFFFF"/>
      </a:lt1>
      <a:dk2>
        <a:srgbClr val="3A2E6E"/>
      </a:dk2>
      <a:lt2>
        <a:srgbClr val="F3F1FA"/>
      </a:lt2>
      <a:accent1>
        <a:srgbClr val="6C4FE0"/>
      </a:accent1>
      <a:accent2>
        <a:srgbClr val="F2A341"/>
      </a:accent2>
      <a:accent3>
        <a:srgbClr val="2BA89B"/>
      </a:accent3>
      <a:accent4>
        <a:srgbClr val="D9533C"/>
      </a:accent4>
      <a:accent5>
        <a:srgbClr val="A294F0"/>
      </a:accent5>
      <a:accent6>
        <a:srgbClr val="4A3AA8"/>
      </a:accent6>
      <a:hlink>
        <a:srgbClr val="6C4FE0"/>
      </a:hlink>
      <a:folHlink>
        <a:srgbClr val="4A3AA8"/>
      </a:folHlink>
    </a:clrScheme>
    <a:fontScheme name="Nocturne 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UE24CS352A Machine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Generating Music with Machine Learning</dc:title>
  <dc:subject>LSTM-based symbolic music generation</dc:subject>
  <dc:creator>Mini-Project Team</dc:creator>
  <cp:lastModifiedBy>Mini-Project Team</cp:lastModifiedBy>
  <cp:revision>1</cp:revision>
  <dcterms:created xsi:type="dcterms:W3CDTF">2026-10-06T09:25:27Z</dcterms:created>
  <dcterms:modified xsi:type="dcterms:W3CDTF">2026-10-06T09:25:27Z</dcterms:modified>
</cp:coreProperties>
</file>